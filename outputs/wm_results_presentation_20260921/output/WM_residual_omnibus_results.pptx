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slides/charts/chart5.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61dac570104560" /><Relationship Type="http://schemas.openxmlformats.org/officeDocument/2006/relationships/extended-properties" Target="/docProps/app.xml" Id="R5d290da673e944dd" /><Relationship Type="http://schemas.openxmlformats.org/officeDocument/2006/relationships/officeDocument" Target="/ppt/presentation.xml" Id="R5d9229ed868b41ce" /></Relationships>
</file>

<file path=ppt/presentation.xml><?xml version="1.0" encoding="utf-8"?>
<p:presentation xmlns:p="http://schemas.openxmlformats.org/presentationml/2006/main">
  <p:sldMasterIdLst>
    <p:sldMasterId xmlns:r="http://schemas.openxmlformats.org/officeDocument/2006/relationships" id="2147483648" r:id="Red93b095ea1648f6"/>
  </p:sldMasterIdLst>
  <p:notesMasterIdLst>
    <p:notesMasterId xmlns:r="http://schemas.openxmlformats.org/officeDocument/2006/relationships" r:id="R624b5bc8da6b4a5e"/>
  </p:notesMasterIdLst>
  <p:sldIdLst>
    <p:sldId xmlns:r="http://schemas.openxmlformats.org/officeDocument/2006/relationships" id="256" r:id="R814fb62f95144717"/>
    <p:sldId xmlns:r="http://schemas.openxmlformats.org/officeDocument/2006/relationships" id="257" r:id="R918aa01c0e3946dc"/>
    <p:sldId xmlns:r="http://schemas.openxmlformats.org/officeDocument/2006/relationships" id="258" r:id="R6d67138fbe294141"/>
    <p:sldId xmlns:r="http://schemas.openxmlformats.org/officeDocument/2006/relationships" id="259" r:id="R6602eb9b8ce0435a"/>
    <p:sldId xmlns:r="http://schemas.openxmlformats.org/officeDocument/2006/relationships" id="260" r:id="Rfba1224be7e44a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b609d0a5ff42c4" /><Relationship Type="http://schemas.openxmlformats.org/officeDocument/2006/relationships/slideMaster" Target="/ppt/slideMasters/slideMaster1.xml" Id="Red93b095ea1648f6" /><Relationship Type="http://schemas.openxmlformats.org/officeDocument/2006/relationships/notesMaster" Target="/ppt/notesMasters/notesMaster1.xml" Id="R624b5bc8da6b4a5e" /><Relationship Type="http://schemas.openxmlformats.org/officeDocument/2006/relationships/presProps" Target="/ppt/presProps.xml" Id="R0b22a882d5894531" /><Relationship Type="http://schemas.openxmlformats.org/officeDocument/2006/relationships/tableStyles" Target="/ppt/tableStyles.xml" Id="R6512da3f19354759" /><Relationship Type="http://schemas.openxmlformats.org/officeDocument/2006/relationships/slide" Target="/ppt/slides/slide1.xml" Id="R814fb62f95144717" /><Relationship Type="http://schemas.openxmlformats.org/officeDocument/2006/relationships/slide" Target="/ppt/slides/slide2.xml" Id="R918aa01c0e3946dc" /><Relationship Type="http://schemas.openxmlformats.org/officeDocument/2006/relationships/slide" Target="/ppt/slides/slide3.xml" Id="R6d67138fbe294141" /><Relationship Type="http://schemas.openxmlformats.org/officeDocument/2006/relationships/slide" Target="/ppt/slides/slide4.xml" Id="R6602eb9b8ce0435a" /><Relationship Type="http://schemas.openxmlformats.org/officeDocument/2006/relationships/slide" Target="/ppt/slides/slide5.xml" Id="Rfba1224be7e44a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f050796b65340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f273ae235145d7" /><Relationship Type="http://schemas.openxmlformats.org/officeDocument/2006/relationships/notesMaster" Target="/ppt/notesMasters/notesMaster1.xml" Id="R5738ec284b5e41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f2e69cfa744150" /><Relationship Type="http://schemas.openxmlformats.org/officeDocument/2006/relationships/notesMaster" Target="/ppt/notesMasters/notesMaster1.xml" Id="R33f9d98bb4014c69"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33b1d00b6c4042" /><Relationship Type="http://schemas.openxmlformats.org/officeDocument/2006/relationships/notesMaster" Target="/ppt/notesMasters/notesMaster1.xml" Id="Re995b1870e0246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5fd962ecc64d99" /><Relationship Type="http://schemas.openxmlformats.org/officeDocument/2006/relationships/notesMaster" Target="/ppt/notesMasters/notesMaster1.xml" Id="R852f5d5f00194c8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1ccebd41bc4e72" /><Relationship Type="http://schemas.openxmlformats.org/officeDocument/2006/relationships/notesMaster" Target="/ppt/notesMasters/notesMaster1.xml" Id="R57863c07b9d447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bar counts regions whose population mean residual contrast differs from zero somewhere in the analyzed curve. cHRF detects 332 of 489, cHRFderiv 304 and sHRF 114. These are ROI-level results, not 41 independent lag tests. Discovery count differences do not constitute a test of HRF-model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104 regions pass in all three models, while 343 pass in at least one and 146 pass in none. The largest additional group, 191 regions, passes in cHRF and cHRFderiv only. Overlap shows stability to model choice, not independent replication or a formal model comparison. Exact patterns ordered as all three, cHRF plus derivative only, cHRF plus sHRF only, derivative plus sHRF only, cHRF only, derivative only, sHRF only. Counts: 104, 191, 5, 3, 32, 6,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Bilateral V1 passes the omnibus test in every model. Right a24 passes only in cHRF. Mean trajectories retain the effect direction that the squared omnibus statistic cannot show. Different significant/not-significant outcomes do not establish a statistically significant difference between models. Illustrative post-selection curves: ROI 1 (left V1), remaining shared ROI with largest minimum S across models, cHRF-only ROI with largest cHRF S. No lag-wise testing or model-difference test. Y-axis units are those of the input residual contrast; the source metadata does not establish percent BOLD. Displayed times use the project's stored convention. No pointwise significance or uncertainty bands are shown. Atlas names use CANlab2018 ROI indices.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The centered bootstrap and sign flips agree on 486 of 489 ROI decisions in each canonical model and 488 of 489 in sHRF. Three cHRF and three derivative discoveries do not pass bootstrap; sHRF adds one bootstrap discovery. 103 ROIs pass both methods in all three models. This does not verify symmetry or independence. The primary analysis is sign flipping, rather than selecting the smaller p-value from the two methods. Both use 99,999 replicates and separately apply Holm across all 489 ROIs.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project results, Body_LoadDiff_vs_Face_LoadDiff.</a:t>
            </a:r>
          </a:p>
          <a:p xmlns:a="http://schemas.openxmlformats.org/drawingml/2006/main">
            <a:r>
              <a:t>cHRF: C:\Users\Ryan_\Documents\my_Git\fMRI\data\task_residual\jhpce_outputs_wm_population_omnibus_full\Body_LoadDiff_vs_Face_LoadDiff\cHRF\job_35821286\temporal_omnibus_results.mat</a:t>
            </a:r>
          </a:p>
          <a:p xmlns:a="http://schemas.openxmlformats.org/drawingml/2006/main">
            <a:r>
              <a:t>cHRFderiv: C:\Users\Ryan_\Documents\my_Git\fMRI\data\task_residual\jhpce_outputs_wm_population_omnibus_full\Body_LoadDiff_vs_Face_LoadDiff\cHRFderiv\job_35821287\temporal_omnibus_results.mat</a:t>
            </a:r>
          </a:p>
          <a:p xmlns:a="http://schemas.openxmlformats.org/drawingml/2006/main">
            <a:r>
              <a:t>sHRF: C:\Users\Ryan_\Documents\my_Git\fMRI\data\task_residual\jhpce_outputs_wm_population_omnibus_full\Body_LoadDiff_vs_Face_LoadDiff\sHRF\job_35821288\temporal_omnibus_results.mat</a:t>
            </a:r>
          </a:p>
          <a:p xmlns:a="http://schemas.openxmlformats.org/drawingml/2006/main">
            <a:r>
              <a:t>N=410 input, 402-410 complete subjects per ROI. One Holm family of 489 ROIs per model. Independence confirmed by data owner; null symmetry assumed. CANlab2018 labels from local atlas matched by ROI index. Stored time axis follows project convention 0:0.72:28.8 sec.</a:t>
            </a:r>
          </a:p>
          <a:p xmlns:a="http://schemas.openxmlformats.org/drawingml/2006/main">
            <a:r>
              <a:t>99,999 sign flips and 99,999 centered bootstrap replicates. Holm alpha 0.05 separately across 489 ROIs within each model. Bootstrap is approximate. Model overlaps are descriptive, not study-wide multiplicity control.</a:t>
            </a:r>
          </a:p>
          <a:p xmlns:a="http://schemas.openxmlformats.org/drawingml/2006/main">
            <a:r>
              <a:t>Talk track: Each p-value is adjusted within one 489-ROI model family. Many raw p-values reach the Monte Carlo floor of 0.00001, producing tied Holm p-values of 0.00489. The first two example ROIs therefore cannot be ranked precisely by their p-values. Right a24 is an example of model-dependent detection, not evidence of a significant between-model difference. The central conclusion is systematic population-average WM residual contrast. This test does not measure classifier importance or causal influence and does not establish significant lags. 12 cHRF, 9 derivative and 28 sHRF ROIs were flagged by the raw-p two-SE Monte Carlo sensitivity screen; that heuristic is not a confidence interval. Suggested method-slide title: Regions with reliable population-average residual contrasts. In the methods, D_i(t) should be the vector across ROIs; D_i,r(t) is its scalar ROI component. Atlas source: local load_atlas(canlab2018).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e9c13478e54e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5429281f7a41c3" /><Relationship Type="http://schemas.openxmlformats.org/officeDocument/2006/relationships/slideLayout" Target="/ppt/slideLayouts/slideLayout1.xml" Id="R99fec462608a49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fec462608a49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2c603add32467f" /><Relationship Type="http://schemas.openxmlformats.org/officeDocument/2006/relationships/chart" Target="/ppt/slides/charts/chart1.xml" Id="R78322be9078d48e7" /><Relationship Type="http://schemas.openxmlformats.org/officeDocument/2006/relationships/notesSlide" Target="/ppt/notesSlides/notesSlide1.xml" Id="Rbe68ecc54bad4c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5478fc21ac4daa" /><Relationship Type="http://schemas.openxmlformats.org/officeDocument/2006/relationships/chart" Target="/ppt/slides/charts/chart2.xml" Id="R3451b2fb821c4bc8" /><Relationship Type="http://schemas.openxmlformats.org/officeDocument/2006/relationships/notesSlide" Target="/ppt/notesSlides/notesSlide2.xml" Id="Rea8c7ef9870843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bd15fdf4ee4cbb" /><Relationship Type="http://schemas.openxmlformats.org/officeDocument/2006/relationships/chart" Target="/ppt/slides/charts/chart3.xml" Id="R991d58280a4d40d9" /><Relationship Type="http://schemas.openxmlformats.org/officeDocument/2006/relationships/chart" Target="/ppt/slides/charts/chart4.xml" Id="Re1637aafaaea49ab" /><Relationship Type="http://schemas.openxmlformats.org/officeDocument/2006/relationships/chart" Target="/ppt/slides/charts/chart5.xml" Id="R8546b1c0652c48e3" /><Relationship Type="http://schemas.openxmlformats.org/officeDocument/2006/relationships/notesSlide" Target="/ppt/notesSlides/notesSlide3.xml" Id="R269cb5c5316645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70359ceda5444ba" /><Relationship Type="http://schemas.openxmlformats.org/officeDocument/2006/relationships/notesSlide" Target="/ppt/notesSlides/notesSlide4.xml" Id="R8ded68f1850c48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e1a1e56d034c90" /><Relationship Type="http://schemas.openxmlformats.org/officeDocument/2006/relationships/notesSlide" Target="/ppt/notesSlides/notesSlide5.xml" Id="R1511430685b040f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Significant ROIs</c:v>
          </c:tx>
          <c:dPt>
            <c:idx val="0"/>
            <c:invertIfNegative val="0"/>
            <c:spPr>
              <a:solidFill xmlns:a="http://schemas.openxmlformats.org/drawingml/2006/main">
                <a:srgbClr val="1675A9"/>
              </a:solidFill>
            </c:spPr>
          </c:dPt>
          <c:dPt>
            <c:idx val="1"/>
            <c:invertIfNegative val="0"/>
            <c:spPr>
              <a:solidFill xmlns:a="http://schemas.openxmlformats.org/drawingml/2006/main">
                <a:srgbClr val="D47726"/>
              </a:solidFill>
            </c:spPr>
          </c:dPt>
          <c:dPt>
            <c:idx val="2"/>
            <c:invertIfNegative val="0"/>
            <c:spPr>
              <a:solidFill xmlns:a="http://schemas.openxmlformats.org/drawingml/2006/main">
                <a:srgbClr val="6A4AA2"/>
              </a:solidFill>
            </c:spPr>
          </c:dPt>
          <c:cat>
            <c:strRef>
              <c:f>'Chart Data'!$A$2:$A$4</c:f>
              <c:strCache>
                <c:ptCount val="3"/>
                <c:pt idx="0">
                  <c:v>cHRF</c:v>
                </c:pt>
                <c:pt idx="1">
                  <c:v>cHRFderiv</c:v>
                </c:pt>
                <c:pt idx="2">
                  <c:v>sHRF</c:v>
                </c:pt>
              </c:strCache>
            </c:strRef>
          </c:cat>
          <c:val>
            <c:numRef>
              <c:f>'Chart Data'!$B$2:$B$4</c:f>
              <c:numCache>
                <c:formatCode>General</c:formatCode>
                <c:ptCount val="3"/>
                <c:pt idx="0">
                  <c:v>332</c:v>
                </c:pt>
                <c:pt idx="1">
                  <c:v>304</c:v>
                </c:pt>
                <c:pt idx="2">
                  <c:v>114</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72768"/>
      </c:catAx>
      <c:valAx>
        <c:axId val="48672768"/>
        <c:scaling>
          <c:orientation val="minMax"/>
          <c:max val="489"/>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ROIs passing Holm correction</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ROIs</c:v>
          </c:tx>
          <c:dPt>
            <c:idx val="0"/>
            <c:invertIfNegative val="0"/>
            <c:spPr>
              <a:solidFill xmlns:a="http://schemas.openxmlformats.org/drawingml/2006/main">
                <a:srgbClr val="1675A9"/>
              </a:solidFill>
            </c:spPr>
          </c:dPt>
          <c:dPt>
            <c:idx val="1"/>
            <c:invertIfNegative val="0"/>
            <c:spPr>
              <a:solidFill xmlns:a="http://schemas.openxmlformats.org/drawingml/2006/main">
                <a:srgbClr val="93A8B7"/>
              </a:solidFill>
            </c:spPr>
          </c:dPt>
          <c:dPt>
            <c:idx val="2"/>
            <c:invertIfNegative val="0"/>
            <c:spPr>
              <a:solidFill xmlns:a="http://schemas.openxmlformats.org/drawingml/2006/main">
                <a:srgbClr val="93A8B7"/>
              </a:solidFill>
            </c:spPr>
          </c:dPt>
          <c:dPt>
            <c:idx val="3"/>
            <c:invertIfNegative val="0"/>
            <c:spPr>
              <a:solidFill xmlns:a="http://schemas.openxmlformats.org/drawingml/2006/main">
                <a:srgbClr val="93A8B7"/>
              </a:solidFill>
            </c:spPr>
          </c:dPt>
          <c:dPt>
            <c:idx val="4"/>
            <c:invertIfNegative val="0"/>
            <c:spPr>
              <a:solidFill xmlns:a="http://schemas.openxmlformats.org/drawingml/2006/main">
                <a:srgbClr val="93A8B7"/>
              </a:solidFill>
            </c:spPr>
          </c:dPt>
          <c:dPt>
            <c:idx val="5"/>
            <c:invertIfNegative val="0"/>
            <c:spPr>
              <a:solidFill xmlns:a="http://schemas.openxmlformats.org/drawingml/2006/main">
                <a:srgbClr val="93A8B7"/>
              </a:solidFill>
            </c:spPr>
          </c:dPt>
          <c:dPt>
            <c:idx val="6"/>
            <c:invertIfNegative val="0"/>
            <c:spPr>
              <a:solidFill xmlns:a="http://schemas.openxmlformats.org/drawingml/2006/main">
                <a:srgbClr val="93A8B7"/>
              </a:solidFill>
            </c:spPr>
          </c:dPt>
          <c:cat>
            <c:strRef>
              <c:f>'Chart Data'!$A$2:$A$8</c:f>
              <c:strCache>
                <c:ptCount val="7"/>
                <c:pt idx="0">
                  <c:v>All three</c:v>
                </c:pt>
                <c:pt idx="1">
                  <c:v>cHRF + deriv</c:v>
                </c:pt>
                <c:pt idx="2">
                  <c:v>cHRF + sHRF</c:v>
                </c:pt>
                <c:pt idx="3">
                  <c:v>deriv + sHRF</c:v>
                </c:pt>
                <c:pt idx="4">
                  <c:v>cHRF only</c:v>
                </c:pt>
                <c:pt idx="5">
                  <c:v>deriv only</c:v>
                </c:pt>
                <c:pt idx="6">
                  <c:v>sHRF only</c:v>
                </c:pt>
              </c:strCache>
            </c:strRef>
          </c:cat>
          <c:val>
            <c:numRef>
              <c:f>'Chart Data'!$B$2:$B$8</c:f>
              <c:numCache>
                <c:formatCode>General</c:formatCode>
                <c:ptCount val="7"/>
                <c:pt idx="0">
                  <c:v>104</c:v>
                </c:pt>
                <c:pt idx="1">
                  <c:v>191</c:v>
                </c:pt>
                <c:pt idx="2">
                  <c:v>5</c:v>
                </c:pt>
                <c:pt idx="3">
                  <c:v>3</c:v>
                </c:pt>
                <c:pt idx="4">
                  <c:v>32</c:v>
                </c:pt>
                <c:pt idx="5">
                  <c:v>6</c:v>
                </c:pt>
                <c:pt idx="6">
                  <c:v>2</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92B3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catAx>
      <c:valAx>
        <c:axId val="48672768"/>
        <c:scaling>
          <c:orientation val="minMax"/>
          <c:max val="220"/>
          <c:min val="0"/>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Number of ROIs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B36"/>
                </a:solidFill>
                <a:latin typeface="Arial"/>
                <a:ea typeface="Arial"/>
                <a:cs typeface="Arial"/>
              </a:defRPr>
            </a:pPr>
          </a:p>
        </c:txPr>
        <c:crossAx val="48650112"/>
        <c:crossBetween val="between"/>
        <c:majorUnit val="5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0.009010445</c:v>
                </c:pt>
                <c:pt idx="1">
                  <c:v>0.003466516</c:v>
                </c:pt>
                <c:pt idx="2">
                  <c:v>-0.003294584</c:v>
                </c:pt>
                <c:pt idx="3">
                  <c:v>-0.006045661</c:v>
                </c:pt>
                <c:pt idx="4">
                  <c:v>-0.002917979</c:v>
                </c:pt>
                <c:pt idx="5">
                  <c:v>0.00408409</c:v>
                </c:pt>
                <c:pt idx="6">
                  <c:v>0.011581199</c:v>
                </c:pt>
                <c:pt idx="7">
                  <c:v>0.016246001</c:v>
                </c:pt>
                <c:pt idx="8">
                  <c:v>0.015555344</c:v>
                </c:pt>
                <c:pt idx="9">
                  <c:v>0.009557423</c:v>
                </c:pt>
                <c:pt idx="10">
                  <c:v>0.001747247</c:v>
                </c:pt>
                <c:pt idx="11">
                  <c:v>-0.00331635</c:v>
                </c:pt>
                <c:pt idx="12">
                  <c:v>-0.003675786</c:v>
                </c:pt>
                <c:pt idx="13">
                  <c:v>-0.001041092</c:v>
                </c:pt>
                <c:pt idx="14">
                  <c:v>0.001101721</c:v>
                </c:pt>
                <c:pt idx="15">
                  <c:v>-0.000243089</c:v>
                </c:pt>
                <c:pt idx="16">
                  <c:v>-0.006125514</c:v>
                </c:pt>
                <c:pt idx="17">
                  <c:v>-0.014899549</c:v>
                </c:pt>
                <c:pt idx="18">
                  <c:v>-0.022906582</c:v>
                </c:pt>
                <c:pt idx="19">
                  <c:v>-0.026521425</c:v>
                </c:pt>
                <c:pt idx="20">
                  <c:v>-0.023934431</c:v>
                </c:pt>
                <c:pt idx="21">
                  <c:v>-0.015989599</c:v>
                </c:pt>
                <c:pt idx="22">
                  <c:v>-0.006041155</c:v>
                </c:pt>
                <c:pt idx="23">
                  <c:v>0.002013968</c:v>
                </c:pt>
                <c:pt idx="24">
                  <c:v>0.006557549</c:v>
                </c:pt>
                <c:pt idx="25">
                  <c:v>0.00868382</c:v>
                </c:pt>
                <c:pt idx="26">
                  <c:v>0.009910106</c:v>
                </c:pt>
                <c:pt idx="27">
                  <c:v>0.010712206</c:v>
                </c:pt>
                <c:pt idx="28">
                  <c:v>0.011332204</c:v>
                </c:pt>
                <c:pt idx="29">
                  <c:v>0.012348995</c:v>
                </c:pt>
                <c:pt idx="30">
                  <c:v>0.013683598</c:v>
                </c:pt>
                <c:pt idx="31">
                  <c:v>0.013979152</c:v>
                </c:pt>
                <c:pt idx="32">
                  <c:v>0.011720453</c:v>
                </c:pt>
                <c:pt idx="33">
                  <c:v>0.00681428</c:v>
                </c:pt>
                <c:pt idx="34">
                  <c:v>0.000790883</c:v>
                </c:pt>
                <c:pt idx="35">
                  <c:v>-0.004875416</c:v>
                </c:pt>
                <c:pt idx="36">
                  <c:v>-0.010778778</c:v>
                </c:pt>
                <c:pt idx="37">
                  <c:v>-0.019149579</c:v>
                </c:pt>
                <c:pt idx="38">
                  <c:v>-0.030327872</c:v>
                </c:pt>
                <c:pt idx="39">
                  <c:v>-0.039788209</c:v>
                </c:pt>
                <c:pt idx="40">
                  <c:v>-0.040826377</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0.004461634</c:v>
                </c:pt>
                <c:pt idx="1">
                  <c:v>-0.001969757</c:v>
                </c:pt>
                <c:pt idx="2">
                  <c:v>-0.009919705</c:v>
                </c:pt>
                <c:pt idx="3">
                  <c:v>-0.015307499</c:v>
                </c:pt>
                <c:pt idx="4">
                  <c:v>-0.016338595</c:v>
                </c:pt>
                <c:pt idx="5">
                  <c:v>-0.013399958</c:v>
                </c:pt>
                <c:pt idx="6">
                  <c:v>-0.007640168</c:v>
                </c:pt>
                <c:pt idx="7">
                  <c:v>-0.001133866</c:v>
                </c:pt>
                <c:pt idx="8">
                  <c:v>0.003251338</c:v>
                </c:pt>
                <c:pt idx="9">
                  <c:v>0.004170315</c:v>
                </c:pt>
                <c:pt idx="10">
                  <c:v>0.003545299</c:v>
                </c:pt>
                <c:pt idx="11">
                  <c:v>0.004722401</c:v>
                </c:pt>
                <c:pt idx="12">
                  <c:v>0.009017979</c:v>
                </c:pt>
                <c:pt idx="13">
                  <c:v>0.014607007</c:v>
                </c:pt>
                <c:pt idx="14">
                  <c:v>0.018116814</c:v>
                </c:pt>
                <c:pt idx="15">
                  <c:v>0.016645808</c:v>
                </c:pt>
                <c:pt idx="16">
                  <c:v>0.009267022</c:v>
                </c:pt>
                <c:pt idx="17">
                  <c:v>-0.002088917</c:v>
                </c:pt>
                <c:pt idx="18">
                  <c:v>-0.013341563</c:v>
                </c:pt>
                <c:pt idx="19">
                  <c:v>-0.02043879</c:v>
                </c:pt>
                <c:pt idx="20">
                  <c:v>-0.021233874</c:v>
                </c:pt>
                <c:pt idx="21">
                  <c:v>-0.016266059</c:v>
                </c:pt>
                <c:pt idx="22">
                  <c:v>-0.008401752</c:v>
                </c:pt>
                <c:pt idx="23">
                  <c:v>-0.000818169</c:v>
                </c:pt>
                <c:pt idx="24">
                  <c:v>0.005339796</c:v>
                </c:pt>
                <c:pt idx="25">
                  <c:v>0.010718366</c:v>
                </c:pt>
                <c:pt idx="26">
                  <c:v>0.015406043</c:v>
                </c:pt>
                <c:pt idx="27">
                  <c:v>0.018269696</c:v>
                </c:pt>
                <c:pt idx="28">
                  <c:v>0.018755987</c:v>
                </c:pt>
                <c:pt idx="29">
                  <c:v>0.017798765</c:v>
                </c:pt>
                <c:pt idx="30">
                  <c:v>0.016326589</c:v>
                </c:pt>
                <c:pt idx="31">
                  <c:v>0.013888741</c:v>
                </c:pt>
                <c:pt idx="32">
                  <c:v>0.009416585</c:v>
                </c:pt>
                <c:pt idx="33">
                  <c:v>0.002923853</c:v>
                </c:pt>
                <c:pt idx="34">
                  <c:v>-0.004046763</c:v>
                </c:pt>
                <c:pt idx="35">
                  <c:v>-0.009955651</c:v>
                </c:pt>
                <c:pt idx="36">
                  <c:v>-0.0152395</c:v>
                </c:pt>
                <c:pt idx="37">
                  <c:v>-0.021999092</c:v>
                </c:pt>
                <c:pt idx="38">
                  <c:v>-0.030792678</c:v>
                </c:pt>
                <c:pt idx="39">
                  <c:v>-0.037913952</c:v>
                </c:pt>
                <c:pt idx="40">
                  <c:v>-0.037712593</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0.028062648</c:v>
                </c:pt>
                <c:pt idx="1">
                  <c:v>0.020913028</c:v>
                </c:pt>
                <c:pt idx="2">
                  <c:v>0.007702048</c:v>
                </c:pt>
                <c:pt idx="3">
                  <c:v>-0.003260739</c:v>
                </c:pt>
                <c:pt idx="4">
                  <c:v>-0.007733172</c:v>
                </c:pt>
                <c:pt idx="5">
                  <c:v>-0.006936743</c:v>
                </c:pt>
                <c:pt idx="6">
                  <c:v>-0.003773051</c:v>
                </c:pt>
                <c:pt idx="7">
                  <c:v>-0.000643745</c:v>
                </c:pt>
                <c:pt idx="8">
                  <c:v>0.000648794</c:v>
                </c:pt>
                <c:pt idx="9">
                  <c:v>-0.000309872</c:v>
                </c:pt>
                <c:pt idx="10">
                  <c:v>-0.001877487</c:v>
                </c:pt>
                <c:pt idx="11">
                  <c:v>-0.001910783</c:v>
                </c:pt>
                <c:pt idx="12">
                  <c:v>-6.9917E-05</c:v>
                </c:pt>
                <c:pt idx="13">
                  <c:v>0.002023468</c:v>
                </c:pt>
                <c:pt idx="14">
                  <c:v>0.002515474</c:v>
                </c:pt>
                <c:pt idx="15">
                  <c:v>0.000646951</c:v>
                </c:pt>
                <c:pt idx="16">
                  <c:v>-0.002943695</c:v>
                </c:pt>
                <c:pt idx="17">
                  <c:v>-0.006439495</c:v>
                </c:pt>
                <c:pt idx="18">
                  <c:v>-0.007791366</c:v>
                </c:pt>
                <c:pt idx="19">
                  <c:v>-0.006041329</c:v>
                </c:pt>
                <c:pt idx="20">
                  <c:v>-0.001862824</c:v>
                </c:pt>
                <c:pt idx="21">
                  <c:v>0.002774108</c:v>
                </c:pt>
                <c:pt idx="22">
                  <c:v>0.005458181</c:v>
                </c:pt>
                <c:pt idx="23">
                  <c:v>0.004885959</c:v>
                </c:pt>
                <c:pt idx="24">
                  <c:v>0.002013188</c:v>
                </c:pt>
                <c:pt idx="25">
                  <c:v>-0.001004706</c:v>
                </c:pt>
                <c:pt idx="26">
                  <c:v>-0.003014385</c:v>
                </c:pt>
                <c:pt idx="27">
                  <c:v>-0.004159319</c:v>
                </c:pt>
                <c:pt idx="28">
                  <c:v>-0.004275738</c:v>
                </c:pt>
                <c:pt idx="29">
                  <c:v>-0.002474022</c:v>
                </c:pt>
                <c:pt idx="30">
                  <c:v>0.001214665</c:v>
                </c:pt>
                <c:pt idx="31">
                  <c:v>0.004792773</c:v>
                </c:pt>
                <c:pt idx="32">
                  <c:v>0.005731083</c:v>
                </c:pt>
                <c:pt idx="33">
                  <c:v>0.003445268</c:v>
                </c:pt>
                <c:pt idx="34">
                  <c:v>0.000164397</c:v>
                </c:pt>
                <c:pt idx="35">
                  <c:v>-0.000976349</c:v>
                </c:pt>
                <c:pt idx="36">
                  <c:v>0.000811234</c:v>
                </c:pt>
                <c:pt idx="37">
                  <c:v>0.00263143</c:v>
                </c:pt>
                <c:pt idx="38">
                  <c:v>0.000584648</c:v>
                </c:pt>
                <c:pt idx="39">
                  <c:v>-0.005519809</c:v>
                </c:pt>
                <c:pt idx="40">
                  <c:v>-0.011070021</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Mean residual contrast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0.023603028</c:v>
                </c:pt>
                <c:pt idx="1">
                  <c:v>0.016870629</c:v>
                </c:pt>
                <c:pt idx="2">
                  <c:v>0.00501939</c:v>
                </c:pt>
                <c:pt idx="3">
                  <c:v>-0.003021223</c:v>
                </c:pt>
                <c:pt idx="4">
                  <c:v>-0.002073091</c:v>
                </c:pt>
                <c:pt idx="5">
                  <c:v>0.005984836</c:v>
                </c:pt>
                <c:pt idx="6">
                  <c:v>0.015559313</c:v>
                </c:pt>
                <c:pt idx="7">
                  <c:v>0.021515258</c:v>
                </c:pt>
                <c:pt idx="8">
                  <c:v>0.021232901</c:v>
                </c:pt>
                <c:pt idx="9">
                  <c:v>0.015308207</c:v>
                </c:pt>
                <c:pt idx="10">
                  <c:v>0.007049851</c:v>
                </c:pt>
                <c:pt idx="11">
                  <c:v>0.000297221</c:v>
                </c:pt>
                <c:pt idx="12">
                  <c:v>-0.003127183</c:v>
                </c:pt>
                <c:pt idx="13">
                  <c:v>-0.004170544</c:v>
                </c:pt>
                <c:pt idx="14">
                  <c:v>-0.00535877</c:v>
                </c:pt>
                <c:pt idx="15">
                  <c:v>-0.00911463</c:v>
                </c:pt>
                <c:pt idx="16">
                  <c:v>-0.01637156</c:v>
                </c:pt>
                <c:pt idx="17">
                  <c:v>-0.025918776</c:v>
                </c:pt>
                <c:pt idx="18">
                  <c:v>-0.035087485</c:v>
                </c:pt>
                <c:pt idx="19">
                  <c:v>-0.041009955</c:v>
                </c:pt>
                <c:pt idx="20">
                  <c:v>-0.041277267</c:v>
                </c:pt>
                <c:pt idx="21">
                  <c:v>-0.034929738</c:v>
                </c:pt>
                <c:pt idx="22">
                  <c:v>-0.02397082</c:v>
                </c:pt>
                <c:pt idx="23">
                  <c:v>-0.012489097</c:v>
                </c:pt>
                <c:pt idx="24">
                  <c:v>-0.003270157</c:v>
                </c:pt>
                <c:pt idx="25">
                  <c:v>0.003467513</c:v>
                </c:pt>
                <c:pt idx="26">
                  <c:v>0.00815473</c:v>
                </c:pt>
                <c:pt idx="27">
                  <c:v>0.011042371</c:v>
                </c:pt>
                <c:pt idx="28">
                  <c:v>0.013523245</c:v>
                </c:pt>
                <c:pt idx="29">
                  <c:v>0.017812216</c:v>
                </c:pt>
                <c:pt idx="30">
                  <c:v>0.024194833</c:v>
                </c:pt>
                <c:pt idx="31">
                  <c:v>0.030067769</c:v>
                </c:pt>
                <c:pt idx="32">
                  <c:v>0.032557079</c:v>
                </c:pt>
                <c:pt idx="33">
                  <c:v>0.031093594</c:v>
                </c:pt>
                <c:pt idx="34">
                  <c:v>0.026840116</c:v>
                </c:pt>
                <c:pt idx="35">
                  <c:v>0.020100416</c:v>
                </c:pt>
                <c:pt idx="36">
                  <c:v>0.008918076</c:v>
                </c:pt>
                <c:pt idx="37">
                  <c:v>-0.008852658</c:v>
                </c:pt>
                <c:pt idx="38">
                  <c:v>-0.030980179</c:v>
                </c:pt>
                <c:pt idx="39">
                  <c:v>-0.048773945</c:v>
                </c:pt>
                <c:pt idx="40">
                  <c:v>-0.05257664</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0.023522505</c:v>
                </c:pt>
                <c:pt idx="1">
                  <c:v>0.018622543</c:v>
                </c:pt>
                <c:pt idx="2">
                  <c:v>0.007318678</c:v>
                </c:pt>
                <c:pt idx="3">
                  <c:v>-0.004564429</c:v>
                </c:pt>
                <c:pt idx="4">
                  <c:v>-0.012873121</c:v>
                </c:pt>
                <c:pt idx="5">
                  <c:v>-0.016585433</c:v>
                </c:pt>
                <c:pt idx="6">
                  <c:v>-0.016029261</c:v>
                </c:pt>
                <c:pt idx="7">
                  <c:v>-0.012199798</c:v>
                </c:pt>
                <c:pt idx="8">
                  <c:v>-0.006961774</c:v>
                </c:pt>
                <c:pt idx="9">
                  <c:v>-0.002027605</c:v>
                </c:pt>
                <c:pt idx="10">
                  <c:v>0.002373737</c:v>
                </c:pt>
                <c:pt idx="11">
                  <c:v>0.007069166</c:v>
                </c:pt>
                <c:pt idx="12">
                  <c:v>0.01228938</c:v>
                </c:pt>
                <c:pt idx="13">
                  <c:v>0.016827417</c:v>
                </c:pt>
                <c:pt idx="14">
                  <c:v>0.018521173</c:v>
                </c:pt>
                <c:pt idx="15">
                  <c:v>0.015357187</c:v>
                </c:pt>
                <c:pt idx="16">
                  <c:v>0.006761082</c:v>
                </c:pt>
                <c:pt idx="17">
                  <c:v>-0.005674187</c:v>
                </c:pt>
                <c:pt idx="18">
                  <c:v>-0.01886647</c:v>
                </c:pt>
                <c:pt idx="19">
                  <c:v>-0.029480122</c:v>
                </c:pt>
                <c:pt idx="20">
                  <c:v>-0.034576725</c:v>
                </c:pt>
                <c:pt idx="21">
                  <c:v>-0.032674415</c:v>
                </c:pt>
                <c:pt idx="22">
                  <c:v>-0.025228043</c:v>
                </c:pt>
                <c:pt idx="23">
                  <c:v>-0.015638521</c:v>
                </c:pt>
                <c:pt idx="24">
                  <c:v>-0.006105094</c:v>
                </c:pt>
                <c:pt idx="25">
                  <c:v>0.003029421</c:v>
                </c:pt>
                <c:pt idx="26">
                  <c:v>0.011090513</c:v>
                </c:pt>
                <c:pt idx="27">
                  <c:v>0.016787237</c:v>
                </c:pt>
                <c:pt idx="28">
                  <c:v>0.02044776</c:v>
                </c:pt>
                <c:pt idx="29">
                  <c:v>0.024142573</c:v>
                </c:pt>
                <c:pt idx="30">
                  <c:v>0.028643841</c:v>
                </c:pt>
                <c:pt idx="31">
                  <c:v>0.031951519</c:v>
                </c:pt>
                <c:pt idx="32">
                  <c:v>0.031684932</c:v>
                </c:pt>
                <c:pt idx="33">
                  <c:v>0.027675656</c:v>
                </c:pt>
                <c:pt idx="34">
                  <c:v>0.021440388</c:v>
                </c:pt>
                <c:pt idx="35">
                  <c:v>0.013656731</c:v>
                </c:pt>
                <c:pt idx="36">
                  <c:v>0.002775642</c:v>
                </c:pt>
                <c:pt idx="37">
                  <c:v>-0.013130794</c:v>
                </c:pt>
                <c:pt idx="38">
                  <c:v>-0.032206427</c:v>
                </c:pt>
                <c:pt idx="39">
                  <c:v>-0.046921182</c:v>
                </c:pt>
                <c:pt idx="40">
                  <c:v>-0.049009461</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0.049656715</c:v>
                </c:pt>
                <c:pt idx="1">
                  <c:v>0.039872058</c:v>
                </c:pt>
                <c:pt idx="2">
                  <c:v>0.017243682</c:v>
                </c:pt>
                <c:pt idx="3">
                  <c:v>-0.004841306</c:v>
                </c:pt>
                <c:pt idx="4">
                  <c:v>-0.017081887</c:v>
                </c:pt>
                <c:pt idx="5">
                  <c:v>-0.01923589</c:v>
                </c:pt>
                <c:pt idx="6">
                  <c:v>-0.015551972</c:v>
                </c:pt>
                <c:pt idx="7">
                  <c:v>-0.009883537</c:v>
                </c:pt>
                <c:pt idx="8">
                  <c:v>-0.00448688</c:v>
                </c:pt>
                <c:pt idx="9">
                  <c:v>-0.000327205</c:v>
                </c:pt>
                <c:pt idx="10">
                  <c:v>0.002561323</c:v>
                </c:pt>
                <c:pt idx="11">
                  <c:v>0.004348253</c:v>
                </c:pt>
                <c:pt idx="12">
                  <c:v>0.004770094</c:v>
                </c:pt>
                <c:pt idx="13">
                  <c:v>0.00338487</c:v>
                </c:pt>
                <c:pt idx="14">
                  <c:v>0.00023134</c:v>
                </c:pt>
                <c:pt idx="15">
                  <c:v>-0.003915999</c:v>
                </c:pt>
                <c:pt idx="16">
                  <c:v>-0.007641412</c:v>
                </c:pt>
                <c:pt idx="17">
                  <c:v>-0.00940248</c:v>
                </c:pt>
                <c:pt idx="18">
                  <c:v>-0.008563244</c:v>
                </c:pt>
                <c:pt idx="19">
                  <c:v>-0.005744802</c:v>
                </c:pt>
                <c:pt idx="20">
                  <c:v>-0.00186318</c:v>
                </c:pt>
                <c:pt idx="21">
                  <c:v>0.002309828</c:v>
                </c:pt>
                <c:pt idx="22">
                  <c:v>0.005396453</c:v>
                </c:pt>
                <c:pt idx="23">
                  <c:v>0.005886917</c:v>
                </c:pt>
                <c:pt idx="24">
                  <c:v>0.003884047</c:v>
                </c:pt>
                <c:pt idx="25">
                  <c:v>0.000825367</c:v>
                </c:pt>
                <c:pt idx="26">
                  <c:v>-0.002491959</c:v>
                </c:pt>
                <c:pt idx="27">
                  <c:v>-0.005804235</c:v>
                </c:pt>
                <c:pt idx="28">
                  <c:v>-0.007568743</c:v>
                </c:pt>
                <c:pt idx="29">
                  <c:v>-0.005601256</c:v>
                </c:pt>
                <c:pt idx="30">
                  <c:v>-0.000200164</c:v>
                </c:pt>
                <c:pt idx="31">
                  <c:v>0.005095318</c:v>
                </c:pt>
                <c:pt idx="32">
                  <c:v>0.006815856</c:v>
                </c:pt>
                <c:pt idx="33">
                  <c:v>0.00481332</c:v>
                </c:pt>
                <c:pt idx="34">
                  <c:v>0.001974721</c:v>
                </c:pt>
                <c:pt idx="35">
                  <c:v>0.001285396</c:v>
                </c:pt>
                <c:pt idx="36">
                  <c:v>0.002930606</c:v>
                </c:pt>
                <c:pt idx="37">
                  <c:v>0.003798942</c:v>
                </c:pt>
                <c:pt idx="38">
                  <c:v>0.000468382</c:v>
                </c:pt>
                <c:pt idx="39">
                  <c:v>-0.006479893</c:v>
                </c:pt>
                <c:pt idx="40">
                  <c:v>-0.012085488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Zero</c:v>
          </c:tx>
          <c:spPr>
            <a:ln xmlns:a="http://schemas.openxmlformats.org/drawingml/2006/main" w="9525">
              <a:solidFill>
                <a:srgbClr val="8B9297"/>
              </a:solidFill>
            </a:ln>
          </c:spPr>
          <c:marker>
            <c:symbol val="none"/>
          </c:marker>
          <c:xVal>
            <c:numRef>
              <c:f>'Chart Data'!$A$2:$A$42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Data'!$B$2:$B$42</c:f>
              <c:numCache>
                <c:formatCode>0.00</c:formatCode>
                <c:ptCount val="4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numCache>
            </c:numRef>
          </c:yVal>
        </c:ser>
        <c:ser>
          <c:idx val="1"/>
          <c:order val="1"/>
          <c:tx>
            <c:v>cHRF</c:v>
          </c:tx>
          <c:spPr>
            <a:ln xmlns:a="http://schemas.openxmlformats.org/drawingml/2006/main" w="23813">
              <a:solidFill>
                <a:srgbClr val="1675A9"/>
              </a:solidFill>
            </a:ln>
          </c:spPr>
          <c:marker>
            <c:symbol val="none"/>
          </c:marker>
          <c:xVal>
            <c:numRef>
              <c:f>'Chart Data'!$C$2:$C$42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Data'!$D$2:$D$42</c:f>
              <c:numCache>
                <c:formatCode>0.00</c:formatCode>
                <c:ptCount val="41"/>
                <c:pt idx="0">
                  <c:v>0.027071056</c:v>
                </c:pt>
                <c:pt idx="1">
                  <c:v>0.031256203</c:v>
                </c:pt>
                <c:pt idx="2">
                  <c:v>0.024734106</c:v>
                </c:pt>
                <c:pt idx="3">
                  <c:v>0.006874874</c:v>
                </c:pt>
                <c:pt idx="4">
                  <c:v>-0.017897512</c:v>
                </c:pt>
                <c:pt idx="5">
                  <c:v>-0.043220682</c:v>
                </c:pt>
                <c:pt idx="6">
                  <c:v>-0.062798888</c:v>
                </c:pt>
                <c:pt idx="7">
                  <c:v>-0.071294838</c:v>
                </c:pt>
                <c:pt idx="8">
                  <c:v>-0.066469443</c:v>
                </c:pt>
                <c:pt idx="9">
                  <c:v>-0.050719068</c:v>
                </c:pt>
                <c:pt idx="10">
                  <c:v>-0.029555407</c:v>
                </c:pt>
                <c:pt idx="11">
                  <c:v>-0.008389068</c:v>
                </c:pt>
                <c:pt idx="12">
                  <c:v>0.010087291</c:v>
                </c:pt>
                <c:pt idx="13">
                  <c:v>0.026441481</c:v>
                </c:pt>
                <c:pt idx="14">
                  <c:v>0.041828927</c:v>
                </c:pt>
                <c:pt idx="15">
                  <c:v>0.054294061</c:v>
                </c:pt>
                <c:pt idx="16">
                  <c:v>0.059069806</c:v>
                </c:pt>
                <c:pt idx="17">
                  <c:v>0.053090233</c:v>
                </c:pt>
                <c:pt idx="18">
                  <c:v>0.038042883</c:v>
                </c:pt>
                <c:pt idx="19">
                  <c:v>0.018949101</c:v>
                </c:pt>
                <c:pt idx="20">
                  <c:v>0.000969385</c:v>
                </c:pt>
                <c:pt idx="21">
                  <c:v>-0.012521325</c:v>
                </c:pt>
                <c:pt idx="22">
                  <c:v>-0.019884548</c:v>
                </c:pt>
                <c:pt idx="23">
                  <c:v>-0.020162139</c:v>
                </c:pt>
                <c:pt idx="24">
                  <c:v>-0.013075284</c:v>
                </c:pt>
                <c:pt idx="25">
                  <c:v>-0.000701844</c:v>
                </c:pt>
                <c:pt idx="26">
                  <c:v>0.011568003</c:v>
                </c:pt>
                <c:pt idx="27">
                  <c:v>0.01737349</c:v>
                </c:pt>
                <c:pt idx="28">
                  <c:v>0.013845258</c:v>
                </c:pt>
                <c:pt idx="29">
                  <c:v>0.003873632</c:v>
                </c:pt>
                <c:pt idx="30">
                  <c:v>-0.006225571</c:v>
                </c:pt>
                <c:pt idx="31">
                  <c:v>-0.011537627</c:v>
                </c:pt>
                <c:pt idx="32">
                  <c:v>-0.011506804</c:v>
                </c:pt>
                <c:pt idx="33">
                  <c:v>-0.008665628</c:v>
                </c:pt>
                <c:pt idx="34">
                  <c:v>-0.005160683</c:v>
                </c:pt>
                <c:pt idx="35">
                  <c:v>-0.001072714</c:v>
                </c:pt>
                <c:pt idx="36">
                  <c:v>0.00393748</c:v>
                </c:pt>
                <c:pt idx="37">
                  <c:v>0.008313795</c:v>
                </c:pt>
                <c:pt idx="38">
                  <c:v>0.009272083</c:v>
                </c:pt>
                <c:pt idx="39">
                  <c:v>0.006048723</c:v>
                </c:pt>
                <c:pt idx="40">
                  <c:v>0.001308796</c:v>
                </c:pt>
              </c:numCache>
            </c:numRef>
          </c:yVal>
        </c:ser>
        <c:ser>
          <c:idx val="2"/>
          <c:order val="2"/>
          <c:tx>
            <c:v>cHRFderiv</c:v>
          </c:tx>
          <c:spPr>
            <a:ln xmlns:a="http://schemas.openxmlformats.org/drawingml/2006/main" w="23813">
              <a:solidFill>
                <a:srgbClr val="D47726"/>
              </a:solidFill>
            </a:ln>
          </c:spPr>
          <c:marker>
            <c:symbol val="none"/>
          </c:marker>
          <c:xVal>
            <c:numRef>
              <c:f>'Chart Data'!$E$2:$E$42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Data'!$F$2:$F$42</c:f>
              <c:numCache>
                <c:formatCode>0.00</c:formatCode>
                <c:ptCount val="41"/>
                <c:pt idx="0">
                  <c:v>0.011576123</c:v>
                </c:pt>
                <c:pt idx="1">
                  <c:v>0.007669844</c:v>
                </c:pt>
                <c:pt idx="2">
                  <c:v>-0.002424793</c:v>
                </c:pt>
                <c:pt idx="3">
                  <c:v>-0.013630042</c:v>
                </c:pt>
                <c:pt idx="4">
                  <c:v>-0.019820742</c:v>
                </c:pt>
                <c:pt idx="5">
                  <c:v>-0.019673512</c:v>
                </c:pt>
                <c:pt idx="6">
                  <c:v>-0.016399097</c:v>
                </c:pt>
                <c:pt idx="7">
                  <c:v>-0.01304733</c:v>
                </c:pt>
                <c:pt idx="8">
                  <c:v>-0.010406782</c:v>
                </c:pt>
                <c:pt idx="9">
                  <c:v>-0.00827494</c:v>
                </c:pt>
                <c:pt idx="10">
                  <c:v>-0.006503225</c:v>
                </c:pt>
                <c:pt idx="11">
                  <c:v>-0.004748204</c:v>
                </c:pt>
                <c:pt idx="12">
                  <c:v>-0.001846178</c:v>
                </c:pt>
                <c:pt idx="13">
                  <c:v>0.004142753</c:v>
                </c:pt>
                <c:pt idx="14">
                  <c:v>0.014000808</c:v>
                </c:pt>
                <c:pt idx="15">
                  <c:v>0.024852255</c:v>
                </c:pt>
                <c:pt idx="16">
                  <c:v>0.031055566</c:v>
                </c:pt>
                <c:pt idx="17">
                  <c:v>0.028650812</c:v>
                </c:pt>
                <c:pt idx="18">
                  <c:v>0.018410312</c:v>
                </c:pt>
                <c:pt idx="19">
                  <c:v>0.004665336</c:v>
                </c:pt>
                <c:pt idx="20">
                  <c:v>-0.007820777</c:v>
                </c:pt>
                <c:pt idx="21">
                  <c:v>-0.015949081</c:v>
                </c:pt>
                <c:pt idx="22">
                  <c:v>-0.018445464</c:v>
                </c:pt>
                <c:pt idx="23">
                  <c:v>-0.015093563</c:v>
                </c:pt>
                <c:pt idx="24">
                  <c:v>-0.006777743</c:v>
                </c:pt>
                <c:pt idx="25">
                  <c:v>0.003620631</c:v>
                </c:pt>
                <c:pt idx="26">
                  <c:v>0.011337858</c:v>
                </c:pt>
                <c:pt idx="27">
                  <c:v>0.012100929</c:v>
                </c:pt>
                <c:pt idx="28">
                  <c:v>0.00537288</c:v>
                </c:pt>
                <c:pt idx="29">
                  <c:v>-0.004690233</c:v>
                </c:pt>
                <c:pt idx="30">
                  <c:v>-0.012011773</c:v>
                </c:pt>
                <c:pt idx="31">
                  <c:v>-0.012988215</c:v>
                </c:pt>
                <c:pt idx="32">
                  <c:v>-0.008629876</c:v>
                </c:pt>
                <c:pt idx="33">
                  <c:v>-0.002624409</c:v>
                </c:pt>
                <c:pt idx="34">
                  <c:v>0.002298759</c:v>
                </c:pt>
                <c:pt idx="35">
                  <c:v>0.005880721</c:v>
                </c:pt>
                <c:pt idx="36">
                  <c:v>0.008674399</c:v>
                </c:pt>
                <c:pt idx="37">
                  <c:v>0.00989595</c:v>
                </c:pt>
                <c:pt idx="38">
                  <c:v>0.007957786</c:v>
                </c:pt>
                <c:pt idx="39">
                  <c:v>0.003113333</c:v>
                </c:pt>
                <c:pt idx="40">
                  <c:v>-0.001726418</c:v>
                </c:pt>
              </c:numCache>
            </c:numRef>
          </c:yVal>
        </c:ser>
        <c:ser>
          <c:idx val="3"/>
          <c:order val="3"/>
          <c:tx>
            <c:v>sHRF</c:v>
          </c:tx>
          <c:spPr>
            <a:ln xmlns:a="http://schemas.openxmlformats.org/drawingml/2006/main" w="23813">
              <a:solidFill>
                <a:srgbClr val="6A4AA2"/>
              </a:solidFill>
            </a:ln>
          </c:spPr>
          <c:marker>
            <c:symbol val="none"/>
          </c:marker>
          <c:xVal>
            <c:numRef>
              <c:f>'Chart Data'!$G$2:$G$42</c:f>
              <c:numCache>
                <c:formatCode>General</c:formatCode>
                <c:ptCount val="41"/>
                <c:pt idx="0">
                  <c:v>0</c:v>
                </c:pt>
                <c:pt idx="1">
                  <c:v>0.72</c:v>
                </c:pt>
                <c:pt idx="2">
                  <c:v>1.44</c:v>
                </c:pt>
                <c:pt idx="3">
                  <c:v>2.16</c:v>
                </c:pt>
                <c:pt idx="4">
                  <c:v>2.88</c:v>
                </c:pt>
                <c:pt idx="5">
                  <c:v>3.6</c:v>
                </c:pt>
                <c:pt idx="6">
                  <c:v>4.32</c:v>
                </c:pt>
                <c:pt idx="7">
                  <c:v>5.04</c:v>
                </c:pt>
                <c:pt idx="8">
                  <c:v>5.76</c:v>
                </c:pt>
                <c:pt idx="9">
                  <c:v>6.48</c:v>
                </c:pt>
                <c:pt idx="10">
                  <c:v>7.2</c:v>
                </c:pt>
                <c:pt idx="11">
                  <c:v>7.92</c:v>
                </c:pt>
                <c:pt idx="12">
                  <c:v>8.64</c:v>
                </c:pt>
                <c:pt idx="13">
                  <c:v>9.36</c:v>
                </c:pt>
                <c:pt idx="14">
                  <c:v>10.08</c:v>
                </c:pt>
                <c:pt idx="15">
                  <c:v>10.8</c:v>
                </c:pt>
                <c:pt idx="16">
                  <c:v>11.52</c:v>
                </c:pt>
                <c:pt idx="17">
                  <c:v>12.24</c:v>
                </c:pt>
                <c:pt idx="18">
                  <c:v>12.96</c:v>
                </c:pt>
                <c:pt idx="19">
                  <c:v>13.68</c:v>
                </c:pt>
                <c:pt idx="20">
                  <c:v>14.4</c:v>
                </c:pt>
                <c:pt idx="21">
                  <c:v>15.12</c:v>
                </c:pt>
                <c:pt idx="22">
                  <c:v>15.84</c:v>
                </c:pt>
                <c:pt idx="23">
                  <c:v>16.56</c:v>
                </c:pt>
                <c:pt idx="24">
                  <c:v>17.28</c:v>
                </c:pt>
                <c:pt idx="25">
                  <c:v>18</c:v>
                </c:pt>
                <c:pt idx="26">
                  <c:v>18.72</c:v>
                </c:pt>
                <c:pt idx="27">
                  <c:v>19.44</c:v>
                </c:pt>
                <c:pt idx="28">
                  <c:v>20.16</c:v>
                </c:pt>
                <c:pt idx="29">
                  <c:v>20.88</c:v>
                </c:pt>
                <c:pt idx="30">
                  <c:v>21.6</c:v>
                </c:pt>
                <c:pt idx="31">
                  <c:v>22.32</c:v>
                </c:pt>
                <c:pt idx="32">
                  <c:v>23.04</c:v>
                </c:pt>
                <c:pt idx="33">
                  <c:v>23.76</c:v>
                </c:pt>
                <c:pt idx="34">
                  <c:v>24.48</c:v>
                </c:pt>
                <c:pt idx="35">
                  <c:v>25.2</c:v>
                </c:pt>
                <c:pt idx="36">
                  <c:v>25.92</c:v>
                </c:pt>
                <c:pt idx="37">
                  <c:v>26.64</c:v>
                </c:pt>
                <c:pt idx="38">
                  <c:v>27.36</c:v>
                </c:pt>
                <c:pt idx="39">
                  <c:v>28.08</c:v>
                </c:pt>
                <c:pt idx="40">
                  <c:v>28.8</c:v>
                </c:pt>
              </c:numCache>
            </c:numRef>
          </c:xVal>
          <c:yVal>
            <c:numRef>
              <c:f>'Chart Data'!$H$2:$H$42</c:f>
              <c:numCache>
                <c:formatCode>0.00</c:formatCode>
                <c:ptCount val="41"/>
                <c:pt idx="0">
                  <c:v>-0.018138747</c:v>
                </c:pt>
                <c:pt idx="1">
                  <c:v>-0.011682679</c:v>
                </c:pt>
                <c:pt idx="2">
                  <c:v>-8.2033E-05</c:v>
                </c:pt>
                <c:pt idx="3">
                  <c:v>0.009743801</c:v>
                </c:pt>
                <c:pt idx="4">
                  <c:v>0.013022727</c:v>
                </c:pt>
                <c:pt idx="5">
                  <c:v>0.009682069</c:v>
                </c:pt>
                <c:pt idx="6">
                  <c:v>0.003356783</c:v>
                </c:pt>
                <c:pt idx="7">
                  <c:v>-0.00105071</c:v>
                </c:pt>
                <c:pt idx="8">
                  <c:v>-0.000910336</c:v>
                </c:pt>
                <c:pt idx="9">
                  <c:v>0.002114311</c:v>
                </c:pt>
                <c:pt idx="10">
                  <c:v>0.003928223</c:v>
                </c:pt>
                <c:pt idx="11">
                  <c:v>0.001792937</c:v>
                </c:pt>
                <c:pt idx="12">
                  <c:v>-0.003256209</c:v>
                </c:pt>
                <c:pt idx="13">
                  <c:v>-0.007006901</c:v>
                </c:pt>
                <c:pt idx="14">
                  <c:v>-0.00569605</c:v>
                </c:pt>
                <c:pt idx="15">
                  <c:v>0.00024846</c:v>
                </c:pt>
                <c:pt idx="16">
                  <c:v>0.006607894</c:v>
                </c:pt>
                <c:pt idx="17">
                  <c:v>0.009481426</c:v>
                </c:pt>
                <c:pt idx="18">
                  <c:v>0.008108649</c:v>
                </c:pt>
                <c:pt idx="19">
                  <c:v>0.00407133</c:v>
                </c:pt>
                <c:pt idx="20">
                  <c:v>-0.000754116</c:v>
                </c:pt>
                <c:pt idx="21">
                  <c:v>-0.005134778</c:v>
                </c:pt>
                <c:pt idx="22">
                  <c:v>-0.00817445</c:v>
                </c:pt>
                <c:pt idx="23">
                  <c:v>-0.0087296</c:v>
                </c:pt>
                <c:pt idx="24">
                  <c:v>-0.005685976</c:v>
                </c:pt>
                <c:pt idx="25">
                  <c:v>0.000723161</c:v>
                </c:pt>
                <c:pt idx="26">
                  <c:v>0.007835735</c:v>
                </c:pt>
                <c:pt idx="27">
                  <c:v>0.011538345</c:v>
                </c:pt>
                <c:pt idx="28">
                  <c:v>0.009330388</c:v>
                </c:pt>
                <c:pt idx="29">
                  <c:v>0.002602522</c:v>
                </c:pt>
                <c:pt idx="30">
                  <c:v>-0.004437284</c:v>
                </c:pt>
                <c:pt idx="31">
                  <c:v>-0.008159685</c:v>
                </c:pt>
                <c:pt idx="32">
                  <c:v>-0.007686262</c:v>
                </c:pt>
                <c:pt idx="33">
                  <c:v>-0.003972627</c:v>
                </c:pt>
                <c:pt idx="34">
                  <c:v>0.002037052</c:v>
                </c:pt>
                <c:pt idx="35">
                  <c:v>0.00917079</c:v>
                </c:pt>
                <c:pt idx="36">
                  <c:v>0.014218225</c:v>
                </c:pt>
                <c:pt idx="37">
                  <c:v>0.012293776</c:v>
                </c:pt>
                <c:pt idx="38">
                  <c:v>0.001331527</c:v>
                </c:pt>
                <c:pt idx="39">
                  <c:v>-0.013545767</c:v>
                </c:pt>
                <c:pt idx="40">
                  <c:v>-0.022829155</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1E6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92B36"/>
                </a:solidFill>
                <a:latin typeface="Arial"/>
                <a:ea typeface="Arial"/>
                <a:cs typeface="Arial"/>
              </a:defRPr>
            </a:pPr>
          </a:p>
        </c:txPr>
        <c:crossAx val="48650112"/>
      </c:valAx>
      <c:valAx>
        <c:axId val="48650112"/>
        <c:scaling>
          <c:orientation val="minMax"/>
          <c:max val="28.8"/>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Time (s)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92B36"/>
                </a:solidFill>
                <a:latin typeface="Arial"/>
                <a:ea typeface="Arial"/>
                <a:cs typeface="Arial"/>
              </a:defRPr>
            </a:pPr>
          </a:p>
        </c:txPr>
        <c:crossAx val="48672768"/>
        <c:majorUnit val="7.2"/>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369828-2EED-4DE6-A80F-A61A29FD462C}"/>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Reliable residual contrasts across many ROIs</a:t>
            </a:r>
          </a:p>
        </p:txBody>
      </p:sp>
      <p:sp>
        <p:nvSpPr>
          <p:cNvPr id="2" name="">
            <a:extLst xmlns:a="http://schemas.openxmlformats.org/drawingml/2006/main">
              <a:ext uri="{FF2B5EF4-FFF2-40B4-BE49-F238E27FC236}">
                <a16:creationId xmlns:a16="http://schemas.microsoft.com/office/drawing/2014/main" id="{53175164-7312-4154-A7BF-5702A4C8C3E1}"/>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WM interaction: (2-back body − 0-back body) − (2-back faces − 0-back faces)</a:t>
            </a:r>
          </a:p>
        </p:txBody>
      </p:sp>
      <p:graphicFrame>
        <p:nvGraphicFramePr>
          <p:cNvPr id="9" name="Chart"/>
          <p:cNvGraphicFramePr/>
          <p:nvPr/>
        </p:nvGraphicFramePr>
        <p:xfrm>
          <a:off xmlns:a="http://schemas.openxmlformats.org/drawingml/2006/main" x="495300" y="1762125"/>
          <a:ext xmlns:a="http://schemas.openxmlformats.org/drawingml/2006/main" cx="7239000" cy="3857625"/>
        </p:xfrm>
        <a:graphic xmlns:a="http://schemas.openxmlformats.org/drawingml/2006/main">
          <a:graphicData uri="http://schemas.openxmlformats.org/drawingml/2006/chart">
            <c:chart xmlns:r="http://schemas.openxmlformats.org/officeDocument/2006/relationships" xmlns:c="http://schemas.openxmlformats.org/drawingml/2006/chart" r:id="R78322be9078d48e7"/>
          </a:graphicData>
        </a:graphic>
      </p:graphicFrame>
      <p:sp>
        <p:nvSpPr>
          <p:cNvPr id="4" name="">
            <a:extLst xmlns:a="http://schemas.openxmlformats.org/drawingml/2006/main">
              <a:ext uri="{FF2B5EF4-FFF2-40B4-BE49-F238E27FC236}">
                <a16:creationId xmlns:a16="http://schemas.microsoft.com/office/drawing/2014/main" id="{946B884F-A3F7-469F-8FCB-8D645641CFCF}"/>
              </a:ext>
            </a:extLst>
          </p:cNvPr>
          <p:cNvSpPr>
            <a:spLocks xmlns:a="http://schemas.openxmlformats.org/drawingml/2006/main" noGrp="1"/>
          </p:cNvSpPr>
          <p:nvPr/>
        </p:nvSpPr>
        <p:spPr>
          <a:xfrm xmlns:a="http://schemas.openxmlformats.org/drawingml/2006/main">
            <a:off x="8334375" y="2000250"/>
            <a:ext cx="314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67.9%   cHRF</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62.2%   cHRFderiv</a:t>
            </a:r>
          </a:p>
          <a:p xmlns:a="http://schemas.openxmlformats.org/drawingml/2006/main">
            <a:pPr>
              <a:defRPr sz="2250" b="1">
                <a:solidFill>
                  <a:srgbClr val="192B36"/>
                </a:solidFill>
                <a:latin typeface="Arial"/>
                <a:ea typeface="Arial"/>
                <a:cs typeface="Arial"/>
              </a:defRPr>
            </a:pPr>
            <a:r>
              <a:rPr sz="2250" b="1">
                <a:solidFill>
                  <a:srgbClr val="192B36"/>
                </a:solidFill>
                <a:latin typeface="Arial"/>
                <a:ea typeface="Arial"/>
                <a:cs typeface="Arial"/>
              </a:rPr>
              <a:t>23.3%   sHRF</a:t>
            </a:r>
          </a:p>
        </p:txBody>
      </p:sp>
      <p:sp>
        <p:nvSpPr>
          <p:cNvPr id="5" name="">
            <a:extLst xmlns:a="http://schemas.openxmlformats.org/drawingml/2006/main">
              <a:ext uri="{FF2B5EF4-FFF2-40B4-BE49-F238E27FC236}">
                <a16:creationId xmlns:a16="http://schemas.microsoft.com/office/drawing/2014/main" id="{0B68F8FC-767A-4B72-8F70-030D03F42925}"/>
              </a:ext>
            </a:extLst>
          </p:cNvPr>
          <p:cNvSpPr>
            <a:spLocks xmlns:a="http://schemas.openxmlformats.org/drawingml/2006/main" noGrp="1"/>
          </p:cNvSpPr>
          <p:nvPr/>
        </p:nvSpPr>
        <p:spPr>
          <a:xfrm xmlns:a="http://schemas.openxmlformats.org/drawingml/2006/main">
            <a:off x="8334375" y="3952875"/>
            <a:ext cx="30003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92B36"/>
                </a:solidFill>
                <a:latin typeface="Arial"/>
                <a:ea typeface="Arial"/>
                <a:cs typeface="Arial"/>
              </a:defRPr>
            </a:pPr>
            <a:r>
              <a:rPr sz="2025" b="0">
                <a:solidFill>
                  <a:srgbClr val="192B36"/>
                </a:solidFill>
                <a:latin typeface="Arial"/>
                <a:ea typeface="Arial"/>
                <a:cs typeface="Arial"/>
              </a:rPr>
              <a:t>The population-average curve departs from zero in these regions.</a:t>
            </a:r>
          </a:p>
        </p:txBody>
      </p:sp>
      <p:sp>
        <p:nvSpPr>
          <p:cNvPr id="6" name="">
            <a:extLst xmlns:a="http://schemas.openxmlformats.org/drawingml/2006/main">
              <a:ext uri="{FF2B5EF4-FFF2-40B4-BE49-F238E27FC236}">
                <a16:creationId xmlns:a16="http://schemas.microsoft.com/office/drawing/2014/main" id="{F796B671-E1FD-45B9-ACFE-1674FDD7AE55}"/>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489 ROIs · 402–410 retained subjects per ROI · 41 lags · Holm p ≤ 0.05 within each model</a:t>
            </a:r>
          </a:p>
        </p:txBody>
      </p:sp>
    </p:spTree>
    <p:extLst>
      <p:ext uri="{BB962C8B-B14F-4D97-AF65-F5344CB8AC3E}">
        <p14:creationId xmlns:p14="http://schemas.microsoft.com/office/powerpoint/2010/main" val="7697140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D898416-7C17-4676-BC03-69F7F22B63B7}"/>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104 ROIs pass in all three HRF models</a:t>
            </a:r>
          </a:p>
        </p:txBody>
      </p:sp>
      <p:sp>
        <p:nvSpPr>
          <p:cNvPr id="2" name="">
            <a:extLst xmlns:a="http://schemas.openxmlformats.org/drawingml/2006/main">
              <a:ext uri="{FF2B5EF4-FFF2-40B4-BE49-F238E27FC236}">
                <a16:creationId xmlns:a16="http://schemas.microsoft.com/office/drawing/2014/main" id="{0EAF375E-89D2-4149-B70F-C21A356F95D6}"/>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Each bar is a mutually exclusive pattern of significant models</a:t>
            </a:r>
          </a:p>
        </p:txBody>
      </p:sp>
      <p:graphicFrame>
        <p:nvGraphicFramePr>
          <p:cNvPr id="7" name="Chart"/>
          <p:cNvGraphicFramePr/>
          <p:nvPr/>
        </p:nvGraphicFramePr>
        <p:xfrm>
          <a:off xmlns:a="http://schemas.openxmlformats.org/drawingml/2006/main" x="495300" y="1657350"/>
          <a:ext xmlns:a="http://schemas.openxmlformats.org/drawingml/2006/main" cx="11182350" cy="4048125"/>
        </p:xfrm>
        <a:graphic xmlns:a="http://schemas.openxmlformats.org/drawingml/2006/main">
          <a:graphicData uri="http://schemas.openxmlformats.org/drawingml/2006/chart">
            <c:chart xmlns:r="http://schemas.openxmlformats.org/officeDocument/2006/relationships" xmlns:c="http://schemas.openxmlformats.org/drawingml/2006/chart" r:id="R3451b2fb821c4bc8"/>
          </a:graphicData>
        </a:graphic>
      </p:graphicFrame>
      <p:sp>
        <p:nvSpPr>
          <p:cNvPr id="4" name="">
            <a:extLst xmlns:a="http://schemas.openxmlformats.org/drawingml/2006/main">
              <a:ext uri="{FF2B5EF4-FFF2-40B4-BE49-F238E27FC236}">
                <a16:creationId xmlns:a16="http://schemas.microsoft.com/office/drawing/2014/main" id="{555826C1-AC83-40EF-B7E2-DDE1E4B15CF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343 ROIs pass in at least one model. 146 pass in none. “deriv” denotes cHRFderiv. Overlap is descriptive.</a:t>
            </a:r>
          </a:p>
        </p:txBody>
      </p:sp>
    </p:spTree>
    <p:extLst>
      <p:ext uri="{BB962C8B-B14F-4D97-AF65-F5344CB8AC3E}">
        <p14:creationId xmlns:p14="http://schemas.microsoft.com/office/powerpoint/2010/main" val="19000451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CC2178-1341-45AA-8512-F63232E957A4}"/>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Mean trajectories show the direction and shape</a:t>
            </a:r>
          </a:p>
        </p:txBody>
      </p:sp>
      <p:sp>
        <p:nvSpPr>
          <p:cNvPr id="2" name="">
            <a:extLst xmlns:a="http://schemas.openxmlformats.org/drawingml/2006/main">
              <a:ext uri="{FF2B5EF4-FFF2-40B4-BE49-F238E27FC236}">
                <a16:creationId xmlns:a16="http://schemas.microsoft.com/office/drawing/2014/main" id="{D185094F-258D-4ED7-87B4-6587A953BE2A}"/>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Illustrative ROIs selected after testing. Each curve is a population-average residual contrast.</a:t>
            </a:r>
          </a:p>
        </p:txBody>
      </p:sp>
      <p:sp>
        <p:nvSpPr>
          <p:cNvPr id="3" name="">
            <a:extLst xmlns:a="http://schemas.openxmlformats.org/drawingml/2006/main">
              <a:ext uri="{FF2B5EF4-FFF2-40B4-BE49-F238E27FC236}">
                <a16:creationId xmlns:a16="http://schemas.microsoft.com/office/drawing/2014/main" id="{CB253570-55DB-47A6-A2BB-77074BF2B014}"/>
              </a:ext>
            </a:extLst>
          </p:cNvPr>
          <p:cNvSpPr>
            <a:spLocks xmlns:a="http://schemas.openxmlformats.org/drawingml/2006/main" noGrp="1"/>
          </p:cNvSpPr>
          <p:nvPr/>
        </p:nvSpPr>
        <p:spPr>
          <a:xfrm xmlns:a="http://schemas.openxmlformats.org/drawingml/2006/main">
            <a:off x="590550" y="1647825"/>
            <a:ext cx="359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2B36"/>
                </a:solidFill>
                <a:latin typeface="Arial"/>
                <a:ea typeface="Arial"/>
                <a:cs typeface="Arial"/>
              </a:defRPr>
            </a:pPr>
            <a:r>
              <a:rPr sz="2025" b="1">
                <a:solidFill>
                  <a:srgbClr val="192B36"/>
                </a:solidFill>
                <a:latin typeface="Arial"/>
                <a:ea typeface="Arial"/>
                <a:cs typeface="Arial"/>
              </a:rPr>
              <a:t>Left V1 (ROI 1)</a:t>
            </a:r>
          </a:p>
        </p:txBody>
      </p:sp>
      <p:graphicFrame>
        <p:nvGraphicFramePr>
          <p:cNvPr id="19" name="Chart"/>
          <p:cNvGraphicFramePr/>
          <p:nvPr/>
        </p:nvGraphicFramePr>
        <p:xfrm>
          <a:off xmlns:a="http://schemas.openxmlformats.org/drawingml/2006/main" x="400050" y="2171700"/>
          <a:ext xmlns:a="http://schemas.openxmlformats.org/drawingml/2006/main" cx="3743325" cy="3095625"/>
        </p:xfrm>
        <a:graphic xmlns:a="http://schemas.openxmlformats.org/drawingml/2006/main">
          <a:graphicData uri="http://schemas.openxmlformats.org/drawingml/2006/chart">
            <c:chart xmlns:r="http://schemas.openxmlformats.org/officeDocument/2006/relationships" xmlns:c="http://schemas.openxmlformats.org/drawingml/2006/chart" r:id="R991d58280a4d40d9"/>
          </a:graphicData>
        </a:graphic>
      </p:graphicFrame>
      <p:sp>
        <p:nvSpPr>
          <p:cNvPr id="5" name="">
            <a:extLst xmlns:a="http://schemas.openxmlformats.org/drawingml/2006/main">
              <a:ext uri="{FF2B5EF4-FFF2-40B4-BE49-F238E27FC236}">
                <a16:creationId xmlns:a16="http://schemas.microsoft.com/office/drawing/2014/main" id="{0E7696A6-08B1-4A89-B826-2CE670C9207A}"/>
              </a:ext>
            </a:extLst>
          </p:cNvPr>
          <p:cNvSpPr>
            <a:spLocks xmlns:a="http://schemas.openxmlformats.org/drawingml/2006/main" noGrp="1"/>
          </p:cNvSpPr>
          <p:nvPr/>
        </p:nvSpPr>
        <p:spPr>
          <a:xfrm xmlns:a="http://schemas.openxmlformats.org/drawingml/2006/main">
            <a:off x="73342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sp>
        <p:nvSpPr>
          <p:cNvPr id="6" name="">
            <a:extLst xmlns:a="http://schemas.openxmlformats.org/drawingml/2006/main">
              <a:ext uri="{FF2B5EF4-FFF2-40B4-BE49-F238E27FC236}">
                <a16:creationId xmlns:a16="http://schemas.microsoft.com/office/drawing/2014/main" id="{5EFA9353-77AC-4E37-BE4A-B68033CB15AD}"/>
              </a:ext>
            </a:extLst>
          </p:cNvPr>
          <p:cNvSpPr>
            <a:spLocks xmlns:a="http://schemas.openxmlformats.org/drawingml/2006/main" noGrp="1"/>
          </p:cNvSpPr>
          <p:nvPr/>
        </p:nvSpPr>
        <p:spPr>
          <a:xfrm xmlns:a="http://schemas.openxmlformats.org/drawingml/2006/main">
            <a:off x="4467225" y="1647825"/>
            <a:ext cx="359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2B36"/>
                </a:solidFill>
                <a:latin typeface="Arial"/>
                <a:ea typeface="Arial"/>
                <a:cs typeface="Arial"/>
              </a:defRPr>
            </a:pPr>
            <a:r>
              <a:rPr sz="2025" b="1">
                <a:solidFill>
                  <a:srgbClr val="192B36"/>
                </a:solidFill>
                <a:latin typeface="Arial"/>
                <a:ea typeface="Arial"/>
                <a:cs typeface="Arial"/>
              </a:rPr>
              <a:t>Right V1 (ROI 2)</a:t>
            </a:r>
          </a:p>
        </p:txBody>
      </p:sp>
      <p:graphicFrame>
        <p:nvGraphicFramePr>
          <p:cNvPr id="22" name="Chart"/>
          <p:cNvGraphicFramePr/>
          <p:nvPr/>
        </p:nvGraphicFramePr>
        <p:xfrm>
          <a:off xmlns:a="http://schemas.openxmlformats.org/drawingml/2006/main" x="4276725" y="2171700"/>
          <a:ext xmlns:a="http://schemas.openxmlformats.org/drawingml/2006/main" cx="3743325" cy="3095625"/>
        </p:xfrm>
        <a:graphic xmlns:a="http://schemas.openxmlformats.org/drawingml/2006/main">
          <a:graphicData uri="http://schemas.openxmlformats.org/drawingml/2006/chart">
            <c:chart xmlns:r="http://schemas.openxmlformats.org/officeDocument/2006/relationships" xmlns:c="http://schemas.openxmlformats.org/drawingml/2006/chart" r:id="Re1637aafaaea49ab"/>
          </a:graphicData>
        </a:graphic>
      </p:graphicFrame>
      <p:sp>
        <p:nvSpPr>
          <p:cNvPr id="8" name="">
            <a:extLst xmlns:a="http://schemas.openxmlformats.org/drawingml/2006/main">
              <a:ext uri="{FF2B5EF4-FFF2-40B4-BE49-F238E27FC236}">
                <a16:creationId xmlns:a16="http://schemas.microsoft.com/office/drawing/2014/main" id="{807BB8EA-4FD2-4B2F-BC30-B0389ED75F01}"/>
              </a:ext>
            </a:extLst>
          </p:cNvPr>
          <p:cNvSpPr>
            <a:spLocks xmlns:a="http://schemas.openxmlformats.org/drawingml/2006/main" noGrp="1"/>
          </p:cNvSpPr>
          <p:nvPr/>
        </p:nvSpPr>
        <p:spPr>
          <a:xfrm xmlns:a="http://schemas.openxmlformats.org/drawingml/2006/main">
            <a:off x="4610100"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all three models</a:t>
            </a:r>
          </a:p>
        </p:txBody>
      </p:sp>
      <p:sp>
        <p:nvSpPr>
          <p:cNvPr id="9" name="">
            <a:extLst xmlns:a="http://schemas.openxmlformats.org/drawingml/2006/main">
              <a:ext uri="{FF2B5EF4-FFF2-40B4-BE49-F238E27FC236}">
                <a16:creationId xmlns:a16="http://schemas.microsoft.com/office/drawing/2014/main" id="{7A22E21A-2DBF-4407-A001-C608A144B57B}"/>
              </a:ext>
            </a:extLst>
          </p:cNvPr>
          <p:cNvSpPr>
            <a:spLocks xmlns:a="http://schemas.openxmlformats.org/drawingml/2006/main" noGrp="1"/>
          </p:cNvSpPr>
          <p:nvPr/>
        </p:nvSpPr>
        <p:spPr>
          <a:xfrm xmlns:a="http://schemas.openxmlformats.org/drawingml/2006/main">
            <a:off x="8343900" y="1647825"/>
            <a:ext cx="359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2B36"/>
                </a:solidFill>
                <a:latin typeface="Arial"/>
                <a:ea typeface="Arial"/>
                <a:cs typeface="Arial"/>
              </a:defRPr>
            </a:pPr>
            <a:r>
              <a:rPr sz="2025" b="1">
                <a:solidFill>
                  <a:srgbClr val="192B36"/>
                </a:solidFill>
                <a:latin typeface="Arial"/>
                <a:ea typeface="Arial"/>
                <a:cs typeface="Arial"/>
              </a:rPr>
              <a:t>Right a24 (ROI 122)</a:t>
            </a:r>
          </a:p>
        </p:txBody>
      </p:sp>
      <p:graphicFrame>
        <p:nvGraphicFramePr>
          <p:cNvPr id="25" name="Chart"/>
          <p:cNvGraphicFramePr/>
          <p:nvPr/>
        </p:nvGraphicFramePr>
        <p:xfrm>
          <a:off xmlns:a="http://schemas.openxmlformats.org/drawingml/2006/main" x="8153400" y="2171700"/>
          <a:ext xmlns:a="http://schemas.openxmlformats.org/drawingml/2006/main" cx="3743325" cy="3095625"/>
        </p:xfrm>
        <a:graphic xmlns:a="http://schemas.openxmlformats.org/drawingml/2006/main">
          <a:graphicData uri="http://schemas.openxmlformats.org/drawingml/2006/chart">
            <c:chart xmlns:r="http://schemas.openxmlformats.org/officeDocument/2006/relationships" xmlns:c="http://schemas.openxmlformats.org/drawingml/2006/chart" r:id="R8546b1c0652c48e3"/>
          </a:graphicData>
        </a:graphic>
      </p:graphicFrame>
      <p:sp>
        <p:nvSpPr>
          <p:cNvPr id="11" name="">
            <a:extLst xmlns:a="http://schemas.openxmlformats.org/drawingml/2006/main">
              <a:ext uri="{FF2B5EF4-FFF2-40B4-BE49-F238E27FC236}">
                <a16:creationId xmlns:a16="http://schemas.microsoft.com/office/drawing/2014/main" id="{77B3C980-AED4-43A1-AAD8-C6251C78A80B}"/>
              </a:ext>
            </a:extLst>
          </p:cNvPr>
          <p:cNvSpPr>
            <a:spLocks xmlns:a="http://schemas.openxmlformats.org/drawingml/2006/main" noGrp="1"/>
          </p:cNvSpPr>
          <p:nvPr/>
        </p:nvSpPr>
        <p:spPr>
          <a:xfrm xmlns:a="http://schemas.openxmlformats.org/drawingml/2006/main">
            <a:off x="8486775" y="5438775"/>
            <a:ext cx="352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92B36"/>
                </a:solidFill>
                <a:latin typeface="Arial"/>
                <a:ea typeface="Arial"/>
                <a:cs typeface="Arial"/>
              </a:defRPr>
            </a:pPr>
            <a:r>
              <a:rPr sz="1650" b="1">
                <a:solidFill>
                  <a:srgbClr val="192B36"/>
                </a:solidFill>
                <a:latin typeface="Arial"/>
                <a:ea typeface="Arial"/>
                <a:cs typeface="Arial"/>
              </a:rPr>
              <a:t>Passes in cHRF only</a:t>
            </a:r>
          </a:p>
        </p:txBody>
      </p:sp>
      <p:sp>
        <p:nvSpPr>
          <p:cNvPr id="12" name="">
            <a:extLst xmlns:a="http://schemas.openxmlformats.org/drawingml/2006/main">
              <a:ext uri="{FF2B5EF4-FFF2-40B4-BE49-F238E27FC236}">
                <a16:creationId xmlns:a16="http://schemas.microsoft.com/office/drawing/2014/main" id="{750EC819-10FD-476C-A26E-9C9EB625A34F}"/>
              </a:ext>
            </a:extLst>
          </p:cNvPr>
          <p:cNvSpPr>
            <a:spLocks xmlns:a="http://schemas.openxmlformats.org/drawingml/2006/main" noGrp="1"/>
          </p:cNvSpPr>
          <p:nvPr/>
        </p:nvSpPr>
        <p:spPr>
          <a:xfrm xmlns:a="http://schemas.openxmlformats.org/drawingml/2006/main">
            <a:off x="42862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5A9"/>
                </a:solidFill>
                <a:latin typeface="Arial"/>
                <a:ea typeface="Arial"/>
                <a:cs typeface="Arial"/>
              </a:defRPr>
            </a:pPr>
            <a:r>
              <a:rPr sz="1725" b="1">
                <a:solidFill>
                  <a:srgbClr val="1675A9"/>
                </a:solidFill>
                <a:latin typeface="Arial"/>
                <a:ea typeface="Arial"/>
                <a:cs typeface="Arial"/>
              </a:rPr>
              <a:t>cHRF</a:t>
            </a:r>
          </a:p>
        </p:txBody>
      </p:sp>
      <p:sp>
        <p:nvSpPr>
          <p:cNvPr id="13" name="">
            <a:extLst xmlns:a="http://schemas.openxmlformats.org/drawingml/2006/main">
              <a:ext uri="{FF2B5EF4-FFF2-40B4-BE49-F238E27FC236}">
                <a16:creationId xmlns:a16="http://schemas.microsoft.com/office/drawing/2014/main" id="{8878DBB6-9C3B-4743-BB45-A8648DC08A02}"/>
              </a:ext>
            </a:extLst>
          </p:cNvPr>
          <p:cNvSpPr>
            <a:spLocks xmlns:a="http://schemas.openxmlformats.org/drawingml/2006/main" noGrp="1"/>
          </p:cNvSpPr>
          <p:nvPr/>
        </p:nvSpPr>
        <p:spPr>
          <a:xfrm xmlns:a="http://schemas.openxmlformats.org/drawingml/2006/main">
            <a:off x="590550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47726"/>
                </a:solidFill>
                <a:latin typeface="Arial"/>
                <a:ea typeface="Arial"/>
                <a:cs typeface="Arial"/>
              </a:defRPr>
            </a:pPr>
            <a:r>
              <a:rPr sz="1725" b="1">
                <a:solidFill>
                  <a:srgbClr val="D47726"/>
                </a:solidFill>
                <a:latin typeface="Arial"/>
                <a:ea typeface="Arial"/>
                <a:cs typeface="Arial"/>
              </a:rPr>
              <a:t>cHRFderiv</a:t>
            </a:r>
          </a:p>
        </p:txBody>
      </p:sp>
      <p:sp>
        <p:nvSpPr>
          <p:cNvPr id="14" name="">
            <a:extLst xmlns:a="http://schemas.openxmlformats.org/drawingml/2006/main">
              <a:ext uri="{FF2B5EF4-FFF2-40B4-BE49-F238E27FC236}">
                <a16:creationId xmlns:a16="http://schemas.microsoft.com/office/drawing/2014/main" id="{14EA0562-6455-43E9-AC32-7D49E7012260}"/>
              </a:ext>
            </a:extLst>
          </p:cNvPr>
          <p:cNvSpPr>
            <a:spLocks xmlns:a="http://schemas.openxmlformats.org/drawingml/2006/main" noGrp="1"/>
          </p:cNvSpPr>
          <p:nvPr/>
        </p:nvSpPr>
        <p:spPr>
          <a:xfrm xmlns:a="http://schemas.openxmlformats.org/drawingml/2006/main">
            <a:off x="7524750" y="58197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6A4AA2"/>
                </a:solidFill>
                <a:latin typeface="Arial"/>
                <a:ea typeface="Arial"/>
                <a:cs typeface="Arial"/>
              </a:defRPr>
            </a:pPr>
            <a:r>
              <a:rPr sz="1725" b="1">
                <a:solidFill>
                  <a:srgbClr val="6A4AA2"/>
                </a:solidFill>
                <a:latin typeface="Arial"/>
                <a:ea typeface="Arial"/>
                <a:cs typeface="Arial"/>
              </a:rPr>
              <a:t>sHRF</a:t>
            </a:r>
          </a:p>
        </p:txBody>
      </p:sp>
      <p:sp>
        <p:nvSpPr>
          <p:cNvPr id="15" name="">
            <a:extLst xmlns:a="http://schemas.openxmlformats.org/drawingml/2006/main">
              <a:ext uri="{FF2B5EF4-FFF2-40B4-BE49-F238E27FC236}">
                <a16:creationId xmlns:a16="http://schemas.microsoft.com/office/drawing/2014/main" id="{04146EB0-D706-48B2-BCE3-DFCE7855D9A9}"/>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Separate y-axis scales. Zero reference shown. Omnibus significance does not identify significant individual lags.</a:t>
            </a:r>
          </a:p>
        </p:txBody>
      </p:sp>
    </p:spTree>
    <p:extLst>
      <p:ext uri="{BB962C8B-B14F-4D97-AF65-F5344CB8AC3E}">
        <p14:creationId xmlns:p14="http://schemas.microsoft.com/office/powerpoint/2010/main" val="20542050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4DD1DE-D610-4670-9C89-AB166923706A}"/>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Bootstrap sensitivity results closely agree</a:t>
            </a:r>
          </a:p>
        </p:txBody>
      </p:sp>
      <p:sp>
        <p:nvSpPr>
          <p:cNvPr id="2" name="">
            <a:extLst xmlns:a="http://schemas.openxmlformats.org/drawingml/2006/main">
              <a:ext uri="{FF2B5EF4-FFF2-40B4-BE49-F238E27FC236}">
                <a16:creationId xmlns:a16="http://schemas.microsoft.com/office/drawing/2014/main" id="{F57B5632-0187-4AB2-AA96-F777E7A62767}"/>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The centered bootstrap allows asymmetric subject curves and provides an approximate comparison.</a:t>
            </a:r>
          </a:p>
        </p:txBody>
      </p:sp>
      <p:graphicFrame>
        <p:nvGraphicFramePr>
          <p:cNvPr id="9" name=""/>
          <p:cNvGraphicFramePr/>
          <p:nvPr/>
        </p:nvGraphicFramePr>
        <p:xfrm>
          <a:off xmlns:a="http://schemas.openxmlformats.org/drawingml/2006/main" x="609600" y="1847850"/>
          <a:ext xmlns:a="http://schemas.openxmlformats.org/drawingml/2006/main" cx="10972800" cy="2514600"/>
        </p:xfrm>
        <a:graphic xmlns:a="http://schemas.openxmlformats.org/drawingml/2006/main">
          <a:graphicData uri="http://schemas.openxmlformats.org/drawingml/2006/table">
            <a:tbl>
              <a:tblPr/>
              <a:tblGrid>
                <a:gridCol w="2381250"/>
                <a:gridCol w="2047875"/>
                <a:gridCol w="2047875"/>
                <a:gridCol w="2238375"/>
                <a:gridCol w="2257425"/>
              </a:tblGrid>
              <a:tr h="628650">
                <a:tc>
                  <a:txBody>
                    <a:bodyPr/>
                    <a:lstStyle/>
                    <a:p>
                      <a:r>
                        <a:rPr sz="1725" b="1">
                          <a:solidFill>
                            <a:srgbClr val="192B36"/>
                          </a:solidFill>
                          <a:latin typeface="Arial"/>
                          <a:ea typeface="Arial"/>
                          <a:cs typeface="Arial"/>
                        </a:rPr>
                        <a:t>HRF model</a:t>
                      </a:r>
                    </a:p>
                  </a:txBody>
                  <a:tcPr marL="114300" marR="114300" marT="95250" marB="95250">
                    <a:solidFill>
                      <a:srgbClr val="EAF1F5"/>
                    </a:solidFill>
                  </a:tcPr>
                </a:tc>
                <a:tc>
                  <a:txBody>
                    <a:bodyPr/>
                    <a:lstStyle/>
                    <a:p>
                      <a:r>
                        <a:rPr sz="1725" b="1">
                          <a:solidFill>
                            <a:srgbClr val="192B36"/>
                          </a:solidFill>
                          <a:latin typeface="Arial"/>
                          <a:ea typeface="Arial"/>
                          <a:cs typeface="Arial"/>
                        </a:rPr>
                        <a:t>Sign flips</a:t>
                      </a:r>
                    </a:p>
                  </a:txBody>
                  <a:tcPr marL="114300" marR="114300" marT="95250" marB="95250">
                    <a:solidFill>
                      <a:srgbClr val="EAF1F5"/>
                    </a:solidFill>
                  </a:tcPr>
                </a:tc>
                <a:tc>
                  <a:txBody>
                    <a:bodyPr/>
                    <a:lstStyle/>
                    <a:p>
                      <a:r>
                        <a:rPr sz="1725" b="1">
                          <a:solidFill>
                            <a:srgbClr val="192B36"/>
                          </a:solidFill>
                          <a:latin typeface="Arial"/>
                          <a:ea typeface="Arial"/>
                          <a:cs typeface="Arial"/>
                        </a:rPr>
                        <a:t>Bootstrap</a:t>
                      </a:r>
                    </a:p>
                  </a:txBody>
                  <a:tcPr marL="114300" marR="114300" marT="95250" marB="95250">
                    <a:solidFill>
                      <a:srgbClr val="EAF1F5"/>
                    </a:solidFill>
                  </a:tcPr>
                </a:tc>
                <a:tc>
                  <a:txBody>
                    <a:bodyPr/>
                    <a:lstStyle/>
                    <a:p>
                      <a:r>
                        <a:rPr sz="1725" b="1">
                          <a:solidFill>
                            <a:srgbClr val="192B36"/>
                          </a:solidFill>
                          <a:latin typeface="Arial"/>
                          <a:ea typeface="Arial"/>
                          <a:cs typeface="Arial"/>
                        </a:rPr>
                        <a:t>Both methods</a:t>
                      </a:r>
                    </a:p>
                  </a:txBody>
                  <a:tcPr marL="114300" marR="114300" marT="95250" marB="95250">
                    <a:solidFill>
                      <a:srgbClr val="EAF1F5"/>
                    </a:solidFill>
                  </a:tcPr>
                </a:tc>
                <a:tc>
                  <a:txBody>
                    <a:bodyPr/>
                    <a:lstStyle/>
                    <a:p>
                      <a:r>
                        <a:rPr sz="1725" b="1">
                          <a:solidFill>
                            <a:srgbClr val="192B36"/>
                          </a:solidFill>
                          <a:latin typeface="Arial"/>
                          <a:ea typeface="Arial"/>
                          <a:cs typeface="Arial"/>
                        </a:rPr>
                        <a:t>Agreement</a:t>
                      </a:r>
                    </a:p>
                  </a:txBody>
                  <a:tcPr marL="114300" marR="114300" marT="95250" marB="95250">
                    <a:solidFill>
                      <a:srgbClr val="EAF1F5"/>
                    </a:solidFill>
                  </a:tcPr>
                </a:tc>
              </a:tr>
              <a:tr h="628650">
                <a:tc>
                  <a:txBody>
                    <a:bodyPr/>
                    <a:lstStyle/>
                    <a:p>
                      <a:r>
                        <a:rPr sz="1800">
                          <a:solidFill>
                            <a:srgbClr val="192B36"/>
                          </a:solidFill>
                          <a:latin typeface="Arial"/>
                          <a:ea typeface="Arial"/>
                          <a:cs typeface="Arial"/>
                        </a:rPr>
                        <a:t>cHRF</a:t>
                      </a:r>
                    </a:p>
                  </a:txBody>
                  <a:tcPr marL="114300" marR="114300" marT="95250" marB="95250">
                    <a:solidFill>
                      <a:srgbClr val="FFFFFF"/>
                    </a:solidFill>
                  </a:tcPr>
                </a:tc>
                <a:tc>
                  <a:txBody>
                    <a:bodyPr/>
                    <a:lstStyle/>
                    <a:p>
                      <a:r>
                        <a:rPr sz="1800">
                          <a:solidFill>
                            <a:srgbClr val="192B36"/>
                          </a:solidFill>
                          <a:latin typeface="Arial"/>
                          <a:ea typeface="Arial"/>
                          <a:cs typeface="Arial"/>
                        </a:rPr>
                        <a:t>332</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329</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cHRFderiv</a:t>
                      </a:r>
                    </a:p>
                  </a:txBody>
                  <a:tcPr marL="114300" marR="114300" marT="95250" marB="95250">
                    <a:solidFill>
                      <a:srgbClr val="FFFFFF"/>
                    </a:solidFill>
                  </a:tcPr>
                </a:tc>
                <a:tc>
                  <a:txBody>
                    <a:bodyPr/>
                    <a:lstStyle/>
                    <a:p>
                      <a:r>
                        <a:rPr sz="1800">
                          <a:solidFill>
                            <a:srgbClr val="192B36"/>
                          </a:solidFill>
                          <a:latin typeface="Arial"/>
                          <a:ea typeface="Arial"/>
                          <a:cs typeface="Arial"/>
                        </a:rPr>
                        <a:t>304</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301</a:t>
                      </a:r>
                    </a:p>
                  </a:txBody>
                  <a:tcPr marL="114300" marR="114300" marT="95250" marB="95250">
                    <a:solidFill>
                      <a:srgbClr val="FFFFFF"/>
                    </a:solidFill>
                  </a:tcPr>
                </a:tc>
                <a:tc>
                  <a:txBody>
                    <a:bodyPr/>
                    <a:lstStyle/>
                    <a:p>
                      <a:r>
                        <a:rPr sz="1800">
                          <a:solidFill>
                            <a:srgbClr val="192B36"/>
                          </a:solidFill>
                          <a:latin typeface="Arial"/>
                          <a:ea typeface="Arial"/>
                          <a:cs typeface="Arial"/>
                        </a:rPr>
                        <a:t>99.4%</a:t>
                      </a:r>
                    </a:p>
                  </a:txBody>
                  <a:tcPr marL="114300" marR="114300" marT="95250" marB="95250">
                    <a:solidFill>
                      <a:srgbClr val="FFFFFF"/>
                    </a:solidFill>
                  </a:tcPr>
                </a:tc>
              </a:tr>
              <a:tr h="628650">
                <a:tc>
                  <a:txBody>
                    <a:bodyPr/>
                    <a:lstStyle/>
                    <a:p>
                      <a:r>
                        <a:rPr sz="1800">
                          <a:solidFill>
                            <a:srgbClr val="192B36"/>
                          </a:solidFill>
                          <a:latin typeface="Arial"/>
                          <a:ea typeface="Arial"/>
                          <a:cs typeface="Arial"/>
                        </a:rPr>
                        <a:t>sHRF</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115</a:t>
                      </a:r>
                    </a:p>
                  </a:txBody>
                  <a:tcPr marL="114300" marR="114300" marT="95250" marB="95250">
                    <a:solidFill>
                      <a:srgbClr val="FFFFFF"/>
                    </a:solidFill>
                  </a:tcPr>
                </a:tc>
                <a:tc>
                  <a:txBody>
                    <a:bodyPr/>
                    <a:lstStyle/>
                    <a:p>
                      <a:r>
                        <a:rPr sz="1800">
                          <a:solidFill>
                            <a:srgbClr val="192B36"/>
                          </a:solidFill>
                          <a:latin typeface="Arial"/>
                          <a:ea typeface="Arial"/>
                          <a:cs typeface="Arial"/>
                        </a:rPr>
                        <a:t>114</a:t>
                      </a:r>
                    </a:p>
                  </a:txBody>
                  <a:tcPr marL="114300" marR="114300" marT="95250" marB="95250">
                    <a:solidFill>
                      <a:srgbClr val="FFFFFF"/>
                    </a:solidFill>
                  </a:tcPr>
                </a:tc>
                <a:tc>
                  <a:txBody>
                    <a:bodyPr/>
                    <a:lstStyle/>
                    <a:p>
                      <a:r>
                        <a:rPr sz="1800">
                          <a:solidFill>
                            <a:srgbClr val="192B36"/>
                          </a:solidFill>
                          <a:latin typeface="Arial"/>
                          <a:ea typeface="Arial"/>
                          <a:cs typeface="Arial"/>
                        </a:rPr>
                        <a:t>99.8%</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BD9CCBC-8D5B-465C-A7E1-917E0EDCB247}"/>
              </a:ext>
            </a:extLst>
          </p:cNvPr>
          <p:cNvSpPr>
            <a:spLocks xmlns:a="http://schemas.openxmlformats.org/drawingml/2006/main" noGrp="1"/>
          </p:cNvSpPr>
          <p:nvPr/>
        </p:nvSpPr>
        <p:spPr>
          <a:xfrm xmlns:a="http://schemas.openxmlformats.org/drawingml/2006/main">
            <a:off x="609600" y="4819650"/>
            <a:ext cx="10953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2B36"/>
                </a:solidFill>
                <a:latin typeface="Arial"/>
                <a:ea typeface="Arial"/>
                <a:cs typeface="Arial"/>
              </a:defRPr>
            </a:pPr>
            <a:r>
              <a:rPr sz="2325" b="1">
                <a:solidFill>
                  <a:srgbClr val="192B36"/>
                </a:solidFill>
                <a:latin typeface="Arial"/>
                <a:ea typeface="Arial"/>
                <a:cs typeface="Arial"/>
              </a:rPr>
              <a:t>103 ROIs pass both methods in all three models</a:t>
            </a:r>
          </a:p>
        </p:txBody>
      </p:sp>
      <p:sp>
        <p:nvSpPr>
          <p:cNvPr id="5" name="">
            <a:extLst xmlns:a="http://schemas.openxmlformats.org/drawingml/2006/main">
              <a:ext uri="{FF2B5EF4-FFF2-40B4-BE49-F238E27FC236}">
                <a16:creationId xmlns:a16="http://schemas.microsoft.com/office/drawing/2014/main" id="{1EA3E77F-6744-4646-9894-DF84CB30AB58}"/>
              </a:ext>
            </a:extLst>
          </p:cNvPr>
          <p:cNvSpPr>
            <a:spLocks xmlns:a="http://schemas.openxmlformats.org/drawingml/2006/main" noGrp="1"/>
          </p:cNvSpPr>
          <p:nvPr/>
        </p:nvSpPr>
        <p:spPr>
          <a:xfrm xmlns:a="http://schemas.openxmlformats.org/drawingml/2006/main">
            <a:off x="609600" y="54768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Close agreement supports stability to the calibration method.</a:t>
            </a:r>
          </a:p>
        </p:txBody>
      </p:sp>
      <p:sp>
        <p:nvSpPr>
          <p:cNvPr id="6" name="">
            <a:extLst xmlns:a="http://schemas.openxmlformats.org/drawingml/2006/main">
              <a:ext uri="{FF2B5EF4-FFF2-40B4-BE49-F238E27FC236}">
                <a16:creationId xmlns:a16="http://schemas.microsoft.com/office/drawing/2014/main" id="{0B191C79-627A-4C3C-9AD7-24E797E215F7}"/>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Counts refer to Holm p ≤ 0.05. Independence is owner-confirmed. Null symmetry remains an assumption.</a:t>
            </a:r>
          </a:p>
        </p:txBody>
      </p:sp>
    </p:spTree>
    <p:extLst>
      <p:ext uri="{BB962C8B-B14F-4D97-AF65-F5344CB8AC3E}">
        <p14:creationId xmlns:p14="http://schemas.microsoft.com/office/powerpoint/2010/main" val="10793747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9491857-AB22-410C-91C6-A9C82353CB37}"/>
              </a:ext>
            </a:extLst>
          </p:cNvPr>
          <p:cNvSpPr>
            <a:spLocks xmlns:a="http://schemas.openxmlformats.org/drawingml/2006/main" noGrp="1"/>
          </p:cNvSpPr>
          <p:nvPr/>
        </p:nvSpPr>
        <p:spPr>
          <a:xfrm xmlns:a="http://schemas.openxmlformats.org/drawingml/2006/main">
            <a:off x="476250" y="266700"/>
            <a:ext cx="11239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92B36"/>
                </a:solidFill>
                <a:latin typeface="Arial"/>
                <a:ea typeface="Arial"/>
                <a:cs typeface="Arial"/>
              </a:defRPr>
            </a:pPr>
            <a:r>
              <a:rPr sz="3000" b="1">
                <a:solidFill>
                  <a:srgbClr val="192B36"/>
                </a:solidFill>
                <a:latin typeface="Arial"/>
                <a:ea typeface="Arial"/>
                <a:cs typeface="Arial"/>
              </a:rPr>
              <a:t>ROI evidence and interpretation</a:t>
            </a:r>
          </a:p>
        </p:txBody>
      </p:sp>
      <p:sp>
        <p:nvSpPr>
          <p:cNvPr id="2" name="">
            <a:extLst xmlns:a="http://schemas.openxmlformats.org/drawingml/2006/main">
              <a:ext uri="{FF2B5EF4-FFF2-40B4-BE49-F238E27FC236}">
                <a16:creationId xmlns:a16="http://schemas.microsoft.com/office/drawing/2014/main" id="{730B9BEE-FFF8-4AE3-9BE0-A325BC3D672B}"/>
              </a:ext>
            </a:extLst>
          </p:cNvPr>
          <p:cNvSpPr>
            <a:spLocks xmlns:a="http://schemas.openxmlformats.org/drawingml/2006/main" noGrp="1"/>
          </p:cNvSpPr>
          <p:nvPr/>
        </p:nvSpPr>
        <p:spPr>
          <a:xfrm xmlns:a="http://schemas.openxmlformats.org/drawingml/2006/main">
            <a:off x="495300" y="952500"/>
            <a:ext cx="112014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36D"/>
                </a:solidFill>
                <a:latin typeface="Arial"/>
                <a:ea typeface="Arial"/>
                <a:cs typeface="Arial"/>
              </a:defRPr>
            </a:pPr>
            <a:r>
              <a:rPr sz="1800" b="0">
                <a:solidFill>
                  <a:srgbClr val="53636D"/>
                </a:solidFill>
                <a:latin typeface="Arial"/>
                <a:ea typeface="Arial"/>
                <a:cs typeface="Arial"/>
              </a:rPr>
              <a:t>Examples connect the statistical evidence to the trajectories shown above.</a:t>
            </a:r>
          </a:p>
        </p:txBody>
      </p:sp>
      <p:graphicFrame>
        <p:nvGraphicFramePr>
          <p:cNvPr id="11" name=""/>
          <p:cNvGraphicFramePr/>
          <p:nvPr/>
        </p:nvGraphicFramePr>
        <p:xfrm>
          <a:off xmlns:a="http://schemas.openxmlformats.org/drawingml/2006/main" x="609600" y="1790700"/>
          <a:ext xmlns:a="http://schemas.openxmlformats.org/drawingml/2006/main" cx="10972800" cy="2381250"/>
        </p:xfrm>
        <a:graphic xmlns:a="http://schemas.openxmlformats.org/drawingml/2006/main">
          <a:graphicData uri="http://schemas.openxmlformats.org/drawingml/2006/table">
            <a:tbl>
              <a:tblPr/>
              <a:tblGrid>
                <a:gridCol w="3257550"/>
                <a:gridCol w="2381250"/>
                <a:gridCol w="2952750"/>
                <a:gridCol w="2381250"/>
              </a:tblGrid>
              <a:tr h="595313">
                <a:tc>
                  <a:txBody>
                    <a:bodyPr/>
                    <a:lstStyle/>
                    <a:p>
                      <a:r>
                        <a:rPr sz="1725" b="1">
                          <a:solidFill>
                            <a:srgbClr val="192B36"/>
                          </a:solidFill>
                          <a:latin typeface="Arial"/>
                          <a:ea typeface="Arial"/>
                          <a:cs typeface="Arial"/>
                        </a:rPr>
                        <a:t>ROI</a:t>
                      </a:r>
                    </a:p>
                  </a:txBody>
                  <a:tcPr marL="114300" marR="114300" marT="95250" marB="95250">
                    <a:solidFill>
                      <a:srgbClr val="EAF1F5"/>
                    </a:solidFill>
                  </a:tcPr>
                </a:tc>
                <a:tc>
                  <a:txBody>
                    <a:bodyPr/>
                    <a:lstStyle/>
                    <a:p>
                      <a:r>
                        <a:rPr sz="1725" b="1">
                          <a:solidFill>
                            <a:srgbClr val="192B36"/>
                          </a:solidFill>
                          <a:latin typeface="Arial"/>
                          <a:ea typeface="Arial"/>
                          <a:cs typeface="Arial"/>
                        </a:rPr>
                        <a:t>cHRF p_Holm</a:t>
                      </a:r>
                    </a:p>
                  </a:txBody>
                  <a:tcPr marL="114300" marR="114300" marT="95250" marB="95250">
                    <a:solidFill>
                      <a:srgbClr val="EAF1F5"/>
                    </a:solidFill>
                  </a:tcPr>
                </a:tc>
                <a:tc>
                  <a:txBody>
                    <a:bodyPr/>
                    <a:lstStyle/>
                    <a:p>
                      <a:r>
                        <a:rPr sz="1725" b="1">
                          <a:solidFill>
                            <a:srgbClr val="192B36"/>
                          </a:solidFill>
                          <a:latin typeface="Arial"/>
                          <a:ea typeface="Arial"/>
                          <a:cs typeface="Arial"/>
                        </a:rPr>
                        <a:t>cHRFderiv p_Holm</a:t>
                      </a:r>
                    </a:p>
                  </a:txBody>
                  <a:tcPr marL="114300" marR="114300" marT="95250" marB="95250">
                    <a:solidFill>
                      <a:srgbClr val="EAF1F5"/>
                    </a:solidFill>
                  </a:tcPr>
                </a:tc>
                <a:tc>
                  <a:txBody>
                    <a:bodyPr/>
                    <a:lstStyle/>
                    <a:p>
                      <a:r>
                        <a:rPr sz="1725" b="1">
                          <a:solidFill>
                            <a:srgbClr val="192B36"/>
                          </a:solidFill>
                          <a:latin typeface="Arial"/>
                          <a:ea typeface="Arial"/>
                          <a:cs typeface="Arial"/>
                        </a:rPr>
                        <a:t>sHRF p_Holm</a:t>
                      </a:r>
                    </a:p>
                  </a:txBody>
                  <a:tcPr marL="114300" marR="114300" marT="95250" marB="95250">
                    <a:solidFill>
                      <a:srgbClr val="EAF1F5"/>
                    </a:solidFill>
                  </a:tcPr>
                </a:tc>
              </a:tr>
              <a:tr h="595313">
                <a:tc>
                  <a:txBody>
                    <a:bodyPr/>
                    <a:lstStyle/>
                    <a:p>
                      <a:r>
                        <a:rPr sz="1800">
                          <a:solidFill>
                            <a:srgbClr val="192B36"/>
                          </a:solidFill>
                          <a:latin typeface="Arial"/>
                          <a:ea typeface="Arial"/>
                          <a:cs typeface="Arial"/>
                        </a:rPr>
                        <a:t>Ctx_V1_L (1)</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Ctx_V1_R (2)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r>
              <a:tr h="595313">
                <a:tc>
                  <a:txBody>
                    <a:bodyPr/>
                    <a:lstStyle/>
                    <a:p>
                      <a:r>
                        <a:rPr sz="1800">
                          <a:solidFill>
                            <a:srgbClr val="192B36"/>
                          </a:solidFill>
                          <a:latin typeface="Arial"/>
                          <a:ea typeface="Arial"/>
                          <a:cs typeface="Arial"/>
                        </a:rPr>
                        <a:t>Ctx_a24_R (122)</a:t>
                      </a:r>
                    </a:p>
                  </a:txBody>
                  <a:tcPr marL="114300" marR="114300" marT="95250" marB="95250">
                    <a:solidFill>
                      <a:srgbClr val="FFFFFF"/>
                    </a:solidFill>
                  </a:tcPr>
                </a:tc>
                <a:tc>
                  <a:txBody>
                    <a:bodyPr/>
                    <a:lstStyle/>
                    <a:p>
                      <a:r>
                        <a:rPr sz="1800">
                          <a:solidFill>
                            <a:srgbClr val="192B36"/>
                          </a:solidFill>
                          <a:latin typeface="Arial"/>
                          <a:ea typeface="Arial"/>
                          <a:cs typeface="Arial"/>
                        </a:rPr>
                        <a:t>0.00489</a:t>
                      </a:r>
                    </a:p>
                  </a:txBody>
                  <a:tcPr marL="114300" marR="114300" marT="95250" marB="95250">
                    <a:solidFill>
                      <a:srgbClr val="FFFFFF"/>
                    </a:solidFill>
                  </a:tcPr>
                </a:tc>
                <a:tc>
                  <a:txBody>
                    <a:bodyPr/>
                    <a:lstStyle/>
                    <a:p>
                      <a:r>
                        <a:rPr sz="1800">
                          <a:solidFill>
                            <a:srgbClr val="192B36"/>
                          </a:solidFill>
                          <a:latin typeface="Arial"/>
                          <a:ea typeface="Arial"/>
                          <a:cs typeface="Arial"/>
                        </a:rPr>
                        <a:t>0.11072</a:t>
                      </a:r>
                    </a:p>
                  </a:txBody>
                  <a:tcPr marL="114300" marR="114300" marT="95250" marB="95250">
                    <a:solidFill>
                      <a:srgbClr val="FFFFFF"/>
                    </a:solidFill>
                  </a:tcPr>
                </a:tc>
                <a:tc>
                  <a:txBody>
                    <a:bodyPr/>
                    <a:lstStyle/>
                    <a:p>
                      <a:r>
                        <a:rPr sz="1800">
                          <a:solidFill>
                            <a:srgbClr val="192B36"/>
                          </a:solidFill>
                          <a:latin typeface="Arial"/>
                          <a:ea typeface="Arial"/>
                          <a:cs typeface="Arial"/>
                        </a:rPr>
                        <a:t>0.15345</a:t>
                      </a:r>
                    </a:p>
                  </a:txBody>
                  <a:tcPr marL="114300" marR="114300" marT="95250" marB="9525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076559B-39C7-4051-8A24-DE414D285A4E}"/>
              </a:ext>
            </a:extLst>
          </p:cNvPr>
          <p:cNvSpPr>
            <a:spLocks xmlns:a="http://schemas.openxmlformats.org/drawingml/2006/main" noGrp="1"/>
          </p:cNvSpPr>
          <p:nvPr/>
        </p:nvSpPr>
        <p:spPr>
          <a:xfrm xmlns:a="http://schemas.openxmlformats.org/drawingml/2006/main">
            <a:off x="609600" y="45434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Supported conclusion</a:t>
            </a:r>
          </a:p>
        </p:txBody>
      </p:sp>
      <p:sp>
        <p:nvSpPr>
          <p:cNvPr id="5" name="">
            <a:extLst xmlns:a="http://schemas.openxmlformats.org/drawingml/2006/main">
              <a:ext uri="{FF2B5EF4-FFF2-40B4-BE49-F238E27FC236}">
                <a16:creationId xmlns:a16="http://schemas.microsoft.com/office/drawing/2014/main" id="{D77BA641-D6D0-4D43-862A-414E7154FA1A}"/>
              </a:ext>
            </a:extLst>
          </p:cNvPr>
          <p:cNvSpPr>
            <a:spLocks xmlns:a="http://schemas.openxmlformats.org/drawingml/2006/main" noGrp="1"/>
          </p:cNvSpPr>
          <p:nvPr/>
        </p:nvSpPr>
        <p:spPr>
          <a:xfrm xmlns:a="http://schemas.openxmlformats.org/drawingml/2006/main">
            <a:off x="609600" y="5038725"/>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Systematic population-average residual contrasts persist across many ROIs.</a:t>
            </a:r>
          </a:p>
        </p:txBody>
      </p:sp>
      <p:sp>
        <p:nvSpPr>
          <p:cNvPr id="6" name="">
            <a:extLst xmlns:a="http://schemas.openxmlformats.org/drawingml/2006/main">
              <a:ext uri="{FF2B5EF4-FFF2-40B4-BE49-F238E27FC236}">
                <a16:creationId xmlns:a16="http://schemas.microsoft.com/office/drawing/2014/main" id="{2B2F6C60-A1CC-4BE5-AAEF-9E179024BB82}"/>
              </a:ext>
            </a:extLst>
          </p:cNvPr>
          <p:cNvSpPr>
            <a:spLocks xmlns:a="http://schemas.openxmlformats.org/drawingml/2006/main" noGrp="1"/>
          </p:cNvSpPr>
          <p:nvPr/>
        </p:nvSpPr>
        <p:spPr>
          <a:xfrm xmlns:a="http://schemas.openxmlformats.org/drawingml/2006/main">
            <a:off x="6477000" y="45434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2B36"/>
                </a:solidFill>
                <a:latin typeface="Arial"/>
                <a:ea typeface="Arial"/>
                <a:cs typeface="Arial"/>
              </a:defRPr>
            </a:pPr>
            <a:r>
              <a:rPr sz="2100" b="1">
                <a:solidFill>
                  <a:srgbClr val="192B36"/>
                </a:solidFill>
                <a:latin typeface="Arial"/>
                <a:ea typeface="Arial"/>
                <a:cs typeface="Arial"/>
              </a:rPr>
              <a:t>Interpretation boundary</a:t>
            </a:r>
          </a:p>
        </p:txBody>
      </p:sp>
      <p:sp>
        <p:nvSpPr>
          <p:cNvPr id="7" name="">
            <a:extLst xmlns:a="http://schemas.openxmlformats.org/drawingml/2006/main">
              <a:ext uri="{FF2B5EF4-FFF2-40B4-BE49-F238E27FC236}">
                <a16:creationId xmlns:a16="http://schemas.microsoft.com/office/drawing/2014/main" id="{1E494212-F4FF-47E0-91C0-5A16E4FCB540}"/>
              </a:ext>
            </a:extLst>
          </p:cNvPr>
          <p:cNvSpPr>
            <a:spLocks xmlns:a="http://schemas.openxmlformats.org/drawingml/2006/main" noGrp="1"/>
          </p:cNvSpPr>
          <p:nvPr/>
        </p:nvSpPr>
        <p:spPr>
          <a:xfrm xmlns:a="http://schemas.openxmlformats.org/drawingml/2006/main">
            <a:off x="6477000" y="5038725"/>
            <a:ext cx="5000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92B36"/>
                </a:solidFill>
                <a:latin typeface="Arial"/>
                <a:ea typeface="Arial"/>
                <a:cs typeface="Arial"/>
              </a:defRPr>
            </a:pPr>
            <a:r>
              <a:rPr sz="1950" b="0">
                <a:solidFill>
                  <a:srgbClr val="192B36"/>
                </a:solidFill>
                <a:latin typeface="Arial"/>
                <a:ea typeface="Arial"/>
                <a:cs typeface="Arial"/>
              </a:rPr>
              <a:t>Timing, classifier importance and causal influence require separate analyses.</a:t>
            </a:r>
          </a:p>
        </p:txBody>
      </p:sp>
      <p:sp>
        <p:nvSpPr>
          <p:cNvPr id="8" name="">
            <a:extLst xmlns:a="http://schemas.openxmlformats.org/drawingml/2006/main">
              <a:ext uri="{FF2B5EF4-FFF2-40B4-BE49-F238E27FC236}">
                <a16:creationId xmlns:a16="http://schemas.microsoft.com/office/drawing/2014/main" id="{C96AFBBF-B524-4BF9-970C-D869D9ED746B}"/>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3636D"/>
                </a:solidFill>
                <a:latin typeface="Arial"/>
                <a:ea typeface="Arial"/>
                <a:cs typeface="Arial"/>
              </a:defRPr>
            </a:pPr>
            <a:r>
              <a:rPr sz="1425" b="0">
                <a:solidFill>
                  <a:srgbClr val="53636D"/>
                </a:solidFill>
                <a:latin typeface="Arial"/>
                <a:ea typeface="Arial"/>
                <a:cs typeface="Arial"/>
              </a:rPr>
              <a:t>Smallest raw p = 0.00001. Tied adjusted p-values limit fine ranking. Model differences require a direct test.</a:t>
            </a:r>
          </a:p>
        </p:txBody>
      </p:sp>
    </p:spTree>
    <p:extLst>
      <p:ext uri="{BB962C8B-B14F-4D97-AF65-F5344CB8AC3E}">
        <p14:creationId xmlns:p14="http://schemas.microsoft.com/office/powerpoint/2010/main" val="135335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2026-09-22T00:09:36.6840000Z</dcterms:created>
  <dcterms:modified xsi:type="dcterms:W3CDTF">2026-09-22T00:09:36.6840000Z</dcterms:modified>
</coreProperties>
</file>