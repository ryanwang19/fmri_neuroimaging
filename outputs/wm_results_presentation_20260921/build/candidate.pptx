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b799966d26d4ebf" /><Relationship Type="http://schemas.openxmlformats.org/officeDocument/2006/relationships/extended-properties" Target="/docProps/app.xml" Id="Re3a545ff9d394ab8" /><Relationship Type="http://schemas.openxmlformats.org/officeDocument/2006/relationships/officeDocument" Target="/ppt/presentation.xml" Id="Re590822ccb8a4912" /></Relationships>
</file>

<file path=ppt/presentation.xml><?xml version="1.0" encoding="utf-8"?>
<p:presentation xmlns:p="http://schemas.openxmlformats.org/presentationml/2006/main">
  <p:sldMasterIdLst>
    <p:sldMasterId xmlns:r="http://schemas.openxmlformats.org/officeDocument/2006/relationships" id="2147483648" r:id="Rfd16bea82da8465c"/>
  </p:sldMasterIdLst>
  <p:notesMasterIdLst>
    <p:notesMasterId xmlns:r="http://schemas.openxmlformats.org/officeDocument/2006/relationships" r:id="Raad5e7e132624978"/>
  </p:notesMasterIdLst>
  <p:sldIdLst>
    <p:sldId xmlns:r="http://schemas.openxmlformats.org/officeDocument/2006/relationships" id="256" r:id="R4130aaf306324e5f"/>
    <p:sldId xmlns:r="http://schemas.openxmlformats.org/officeDocument/2006/relationships" id="257" r:id="R59cf900503f949f1"/>
    <p:sldId xmlns:r="http://schemas.openxmlformats.org/officeDocument/2006/relationships" id="258" r:id="Rb42f2db608674c15"/>
    <p:sldId xmlns:r="http://schemas.openxmlformats.org/officeDocument/2006/relationships" id="259" r:id="R72d6883a03f64f2c"/>
    <p:sldId xmlns:r="http://schemas.openxmlformats.org/officeDocument/2006/relationships" id="260" r:id="Ra4ade9f2a1a141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b002f173654bdb" /><Relationship Type="http://schemas.openxmlformats.org/officeDocument/2006/relationships/slideMaster" Target="/ppt/slideMasters/slideMaster1.xml" Id="Rfd16bea82da8465c" /><Relationship Type="http://schemas.openxmlformats.org/officeDocument/2006/relationships/notesMaster" Target="/ppt/notesMasters/notesMaster1.xml" Id="Raad5e7e132624978" /><Relationship Type="http://schemas.openxmlformats.org/officeDocument/2006/relationships/presProps" Target="/ppt/presProps.xml" Id="R251b8d86ab464c6e" /><Relationship Type="http://schemas.openxmlformats.org/officeDocument/2006/relationships/tableStyles" Target="/ppt/tableStyles.xml" Id="R5c796e11693a4f58" /><Relationship Type="http://schemas.openxmlformats.org/officeDocument/2006/relationships/slide" Target="/ppt/slides/slide1.xml" Id="R4130aaf306324e5f" /><Relationship Type="http://schemas.openxmlformats.org/officeDocument/2006/relationships/slide" Target="/ppt/slides/slide2.xml" Id="R59cf900503f949f1" /><Relationship Type="http://schemas.openxmlformats.org/officeDocument/2006/relationships/slide" Target="/ppt/slides/slide3.xml" Id="Rb42f2db608674c15" /><Relationship Type="http://schemas.openxmlformats.org/officeDocument/2006/relationships/slide" Target="/ppt/slides/slide4.xml" Id="R72d6883a03f64f2c" /><Relationship Type="http://schemas.openxmlformats.org/officeDocument/2006/relationships/slide" Target="/ppt/slides/slide5.xml" Id="Ra4ade9f2a1a141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87e0b3405648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10f46dae254980" /><Relationship Type="http://schemas.openxmlformats.org/officeDocument/2006/relationships/notesMaster" Target="/ppt/notesMasters/notesMaster1.xml" Id="Rb36d238e6c8b40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029d2170aa484e" /><Relationship Type="http://schemas.openxmlformats.org/officeDocument/2006/relationships/notesMaster" Target="/ppt/notesMasters/notesMaster1.xml" Id="R5ce1d665302847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ded41e1b0e44b3" /><Relationship Type="http://schemas.openxmlformats.org/officeDocument/2006/relationships/notesMaster" Target="/ppt/notesMasters/notesMaster1.xml" Id="Rc363b462313846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fa9bcc365f4a56" /><Relationship Type="http://schemas.openxmlformats.org/officeDocument/2006/relationships/notesMaster" Target="/ppt/notesMasters/notesMaster1.xml" Id="R76173f6341f142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86fd3d11d64208" /><Relationship Type="http://schemas.openxmlformats.org/officeDocument/2006/relationships/notesMaster" Target="/ppt/notesMasters/notesMaster1.xml" Id="R0e3bfcb89aa146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 results, Body_LoadDiff_vs_Face_LoadDiff.</a:t>
            </a:r>
          </a:p>
          <a:p xmlns:a="http://schemas.openxmlformats.org/drawingml/2006/main">
            <a:r>
              <a:t>cHRF: C:\Users\Ryan_\Documents\my_Git\fMRI\data\task_residual\jhpce_outputs_wm_population_omnibus_full\Body_LoadDiff_vs_Face_LoadDiff\cHRF\job_35821286\temporal_omnibus_results.mat</a:t>
            </a:r>
          </a:p>
          <a:p xmlns:a="http://schemas.openxmlformats.org/drawingml/2006/main">
            <a:r>
              <a:t>cHRFderiv: C:\Users\Ryan_\Documents\my_Git\fMRI\data\task_residual\jhpce_outputs_wm_population_omnibus_full\Body_LoadDiff_vs_Face_LoadDiff\cHRFderiv\job_35821287\temporal_omnibus_results.mat</a:t>
            </a:r>
          </a:p>
          <a:p xmlns:a="http://schemas.openxmlformats.org/drawingml/2006/main">
            <a:r>
              <a:t>sHRF: C:\Users\Ryan_\Documents\my_Git\fMRI\data\task_residual\jhpce_outputs_wm_population_omnibus_full\Body_LoadDiff_vs_Face_LoadDiff\sHRF\job_35821288\temporal_omnibus_results.mat</a:t>
            </a:r>
          </a:p>
          <a:p xmlns:a="http://schemas.openxmlformats.org/drawingml/2006/main">
            <a:r>
              <a:t>N=410 input, 402-410 complete subjects per ROI. One Holm family of 489 ROIs per model. Independence confirmed by data owner; null symmetry assumed. CANlab2018 labels from local atlas matched by ROI index. Stored time axis follows project convention 0:0.72:28.8 sec.</a:t>
            </a:r>
          </a:p>
          <a:p xmlns:a="http://schemas.openxmlformats.org/drawingml/2006/main">
            <a:r>
              <a:t>99,999 sign flips and 99,999 centered bootstrap replicates. Holm alpha 0.05 separately across 489 ROIs within each model. Bootstrap is approximate. Model overlaps are descriptive, not study-wide multiplicity control.</a:t>
            </a:r>
          </a:p>
          <a:p xmlns:a="http://schemas.openxmlformats.org/drawingml/2006/main">
            <a:r>
              <a:t>Talk track: Each bar counts regions whose population mean residual contrast differs from zero somewhere in the analyzed curve. cHRF detects 332 of 489, cHRFderiv 304 and sHRF 114. These are ROI-level results, not 41 independent lag tests. Discovery count differences do not constitute a test of HRF-model differences.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 results, Body_LoadDiff_vs_Face_LoadDiff.</a:t>
            </a:r>
          </a:p>
          <a:p xmlns:a="http://schemas.openxmlformats.org/drawingml/2006/main">
            <a:r>
              <a:t>cHRF: C:\Users\Ryan_\Documents\my_Git\fMRI\data\task_residual\jhpce_outputs_wm_population_omnibus_full\Body_LoadDiff_vs_Face_LoadDiff\cHRF\job_35821286\temporal_omnibus_results.mat</a:t>
            </a:r>
          </a:p>
          <a:p xmlns:a="http://schemas.openxmlformats.org/drawingml/2006/main">
            <a:r>
              <a:t>cHRFderiv: C:\Users\Ryan_\Documents\my_Git\fMRI\data\task_residual\jhpce_outputs_wm_population_omnibus_full\Body_LoadDiff_vs_Face_LoadDiff\cHRFderiv\job_35821287\temporal_omnibus_results.mat</a:t>
            </a:r>
          </a:p>
          <a:p xmlns:a="http://schemas.openxmlformats.org/drawingml/2006/main">
            <a:r>
              <a:t>sHRF: C:\Users\Ryan_\Documents\my_Git\fMRI\data\task_residual\jhpce_outputs_wm_population_omnibus_full\Body_LoadDiff_vs_Face_LoadDiff\sHRF\job_35821288\temporal_omnibus_results.mat</a:t>
            </a:r>
          </a:p>
          <a:p xmlns:a="http://schemas.openxmlformats.org/drawingml/2006/main">
            <a:r>
              <a:t>N=410 input, 402-410 complete subjects per ROI. One Holm family of 489 ROIs per model. Independence confirmed by data owner; null symmetry assumed. CANlab2018 labels from local atlas matched by ROI index. Stored time axis follows project convention 0:0.72:28.8 sec.</a:t>
            </a:r>
          </a:p>
          <a:p xmlns:a="http://schemas.openxmlformats.org/drawingml/2006/main">
            <a:r>
              <a:t>99,999 sign flips and 99,999 centered bootstrap replicates. Holm alpha 0.05 separately across 489 ROIs within each model. Bootstrap is approximate. Model overlaps are descriptive, not study-wide multiplicity control.</a:t>
            </a:r>
          </a:p>
          <a:p xmlns:a="http://schemas.openxmlformats.org/drawingml/2006/main">
            <a:r>
              <a:t>Talk track: 104 regions pass in all three models, while 343 pass in at least one and 146 pass in none. The largest additional group, 191 regions, passes in cHRF and cHRFderiv only. Overlap shows stability to model choice, not independent replication or a formal model comparison. Exact patterns ordered as all three, cHRF plus derivative only, cHRF plus sHRF only, derivative plus sHRF only, cHRF only, derivative only, sHRF only. Counts: 104, 191, 5, 3, 32, 6,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 results, Body_LoadDiff_vs_Face_LoadDiff.</a:t>
            </a:r>
          </a:p>
          <a:p xmlns:a="http://schemas.openxmlformats.org/drawingml/2006/main">
            <a:r>
              <a:t>cHRF: C:\Users\Ryan_\Documents\my_Git\fMRI\data\task_residual\jhpce_outputs_wm_population_omnibus_full\Body_LoadDiff_vs_Face_LoadDiff\cHRF\job_35821286\temporal_omnibus_results.mat</a:t>
            </a:r>
          </a:p>
          <a:p xmlns:a="http://schemas.openxmlformats.org/drawingml/2006/main">
            <a:r>
              <a:t>cHRFderiv: C:\Users\Ryan_\Documents\my_Git\fMRI\data\task_residual\jhpce_outputs_wm_population_omnibus_full\Body_LoadDiff_vs_Face_LoadDiff\cHRFderiv\job_35821287\temporal_omnibus_results.mat</a:t>
            </a:r>
          </a:p>
          <a:p xmlns:a="http://schemas.openxmlformats.org/drawingml/2006/main">
            <a:r>
              <a:t>sHRF: C:\Users\Ryan_\Documents\my_Git\fMRI\data\task_residual\jhpce_outputs_wm_population_omnibus_full\Body_LoadDiff_vs_Face_LoadDiff\sHRF\job_35821288\temporal_omnibus_results.mat</a:t>
            </a:r>
          </a:p>
          <a:p xmlns:a="http://schemas.openxmlformats.org/drawingml/2006/main">
            <a:r>
              <a:t>N=410 input, 402-410 complete subjects per ROI. One Holm family of 489 ROIs per model. Independence confirmed by data owner; null symmetry assumed. CANlab2018 labels from local atlas matched by ROI index. Stored time axis follows project convention 0:0.72:28.8 sec.</a:t>
            </a:r>
          </a:p>
          <a:p xmlns:a="http://schemas.openxmlformats.org/drawingml/2006/main">
            <a:r>
              <a:t>99,999 sign flips and 99,999 centered bootstrap replicates. Holm alpha 0.05 separately across 489 ROIs within each model. Bootstrap is approximate. Model overlaps are descriptive, not study-wide multiplicity control.</a:t>
            </a:r>
          </a:p>
          <a:p xmlns:a="http://schemas.openxmlformats.org/drawingml/2006/main">
            <a:r>
              <a:t>Talk track: Bilateral V1 passes the omnibus test in every model. Right a24 passes only in cHRF. Mean trajectories retain the effect direction that the squared omnibus statistic cannot show. Different significant/not-significant outcomes do not establish a statistically significant difference between models. Illustrative post-selection curves: ROI 1 (left V1), remaining shared ROI with largest minimum S across models, cHRF-only ROI with largest cHRF S. No lag-wise testing or model-difference test. Y-axis units are those of the input residual contrast; the source metadata does not establish percent BOLD. Displayed times use the project's stored convention. No pointwise significance or uncertainty bands are shown. Atlas names use CANlab2018 ROI indices.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 results, Body_LoadDiff_vs_Face_LoadDiff.</a:t>
            </a:r>
          </a:p>
          <a:p xmlns:a="http://schemas.openxmlformats.org/drawingml/2006/main">
            <a:r>
              <a:t>cHRF: C:\Users\Ryan_\Documents\my_Git\fMRI\data\task_residual\jhpce_outputs_wm_population_omnibus_full\Body_LoadDiff_vs_Face_LoadDiff\cHRF\job_35821286\temporal_omnibus_results.mat</a:t>
            </a:r>
          </a:p>
          <a:p xmlns:a="http://schemas.openxmlformats.org/drawingml/2006/main">
            <a:r>
              <a:t>cHRFderiv: C:\Users\Ryan_\Documents\my_Git\fMRI\data\task_residual\jhpce_outputs_wm_population_omnibus_full\Body_LoadDiff_vs_Face_LoadDiff\cHRFderiv\job_35821287\temporal_omnibus_results.mat</a:t>
            </a:r>
          </a:p>
          <a:p xmlns:a="http://schemas.openxmlformats.org/drawingml/2006/main">
            <a:r>
              <a:t>sHRF: C:\Users\Ryan_\Documents\my_Git\fMRI\data\task_residual\jhpce_outputs_wm_population_omnibus_full\Body_LoadDiff_vs_Face_LoadDiff\sHRF\job_35821288\temporal_omnibus_results.mat</a:t>
            </a:r>
          </a:p>
          <a:p xmlns:a="http://schemas.openxmlformats.org/drawingml/2006/main">
            <a:r>
              <a:t>N=410 input, 402-410 complete subjects per ROI. One Holm family of 489 ROIs per model. Independence confirmed by data owner; null symmetry assumed. CANlab2018 labels from local atlas matched by ROI index. Stored time axis follows project convention 0:0.72:28.8 sec.</a:t>
            </a:r>
          </a:p>
          <a:p xmlns:a="http://schemas.openxmlformats.org/drawingml/2006/main">
            <a:r>
              <a:t>99,999 sign flips and 99,999 centered bootstrap replicates. Holm alpha 0.05 separately across 489 ROIs within each model. Bootstrap is approximate. Model overlaps are descriptive, not study-wide multiplicity control.</a:t>
            </a:r>
          </a:p>
          <a:p xmlns:a="http://schemas.openxmlformats.org/drawingml/2006/main">
            <a:r>
              <a:t>Talk track: The centered bootstrap and sign flips agree on 486 of 489 ROI decisions in each canonical model and 488 of 489 in sHRF. Three cHRF and three derivative discoveries do not pass bootstrap; sHRF adds one bootstrap discovery. 103 ROIs pass both methods in all three models. This does not verify symmetry or independence. The primary analysis is sign flipping, rather than selecting the smaller p-value from the two methods. Both use 99,999 replicates and separately apply Holm across all 489 ROIs.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 results, Body_LoadDiff_vs_Face_LoadDiff.</a:t>
            </a:r>
          </a:p>
          <a:p xmlns:a="http://schemas.openxmlformats.org/drawingml/2006/main">
            <a:r>
              <a:t>cHRF: C:\Users\Ryan_\Documents\my_Git\fMRI\data\task_residual\jhpce_outputs_wm_population_omnibus_full\Body_LoadDiff_vs_Face_LoadDiff\cHRF\job_35821286\temporal_omnibus_results.mat</a:t>
            </a:r>
          </a:p>
          <a:p xmlns:a="http://schemas.openxmlformats.org/drawingml/2006/main">
            <a:r>
              <a:t>cHRFderiv: C:\Users\Ryan_\Documents\my_Git\fMRI\data\task_residual\jhpce_outputs_wm_population_omnibus_full\Body_LoadDiff_vs_Face_LoadDiff\cHRFderiv\job_35821287\temporal_omnibus_results.mat</a:t>
            </a:r>
          </a:p>
          <a:p xmlns:a="http://schemas.openxmlformats.org/drawingml/2006/main">
            <a:r>
              <a:t>sHRF: C:\Users\Ryan_\Documents\my_Git\fMRI\data\task_residual\jhpce_outputs_wm_population_omnibus_full\Body_LoadDiff_vs_Face_LoadDiff\sHRF\job_35821288\temporal_omnibus_results.mat</a:t>
            </a:r>
          </a:p>
          <a:p xmlns:a="http://schemas.openxmlformats.org/drawingml/2006/main">
            <a:r>
              <a:t>N=410 input, 402-410 complete subjects per ROI. One Holm family of 489 ROIs per model. Independence confirmed by data owner; null symmetry assumed. CANlab2018 labels from local atlas matched by ROI index. Stored time axis follows project convention 0:0.72:28.8 sec.</a:t>
            </a:r>
          </a:p>
          <a:p xmlns:a="http://schemas.openxmlformats.org/drawingml/2006/main">
            <a:r>
              <a:t>99,999 sign flips and 99,999 centered bootstrap replicates. Holm alpha 0.05 separately across 489 ROIs within each model. Bootstrap is approximate. Model overlaps are descriptive, not study-wide multiplicity control.</a:t>
            </a:r>
          </a:p>
          <a:p xmlns:a="http://schemas.openxmlformats.org/drawingml/2006/main">
            <a:r>
              <a:t>Talk track: Each p-value is adjusted within one 489-ROI model family. Many raw p-values reach the Monte Carlo floor of 0.00001, producing tied Holm p-values of 0.00489. The first two example ROIs therefore cannot be ranked precisely by their p-values. Right a24 is an example of model-dependent detection, not evidence of a significant between-model difference. The central conclusion is systematic population-average WM residual contrast. This test does not measure classifier importance or causal influence and does not establish significant lags. 12 cHRF, 9 derivative and 28 sHRF ROIs were flagged by the raw-p two-SE Monte Carlo sensitivity screen; that heuristic is not a confidence interval. Suggested method-slide title: Regions with reliable population-average residual contrasts. In the methods, D_i(t) should be the vector across ROIs; D_i,r(t) is its scalar ROI component. Atlas source: local load_atlas(canlab2018).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196c0fa4634b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923a37d3054287" /><Relationship Type="http://schemas.openxmlformats.org/officeDocument/2006/relationships/slideLayout" Target="/ppt/slideLayouts/slideLayout1.xml" Id="R586937ca35e442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6937ca35e442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eca1472eff44534" /><Relationship Type="http://schemas.openxmlformats.org/officeDocument/2006/relationships/chart" Target="/ppt/slides/charts/chart1.xml" Id="Rc90f65d3eae64c0f" /><Relationship Type="http://schemas.openxmlformats.org/officeDocument/2006/relationships/notesSlide" Target="/ppt/notesSlides/notesSlide1.xml" Id="R6a204b78f00c44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609e750913a4502" /><Relationship Type="http://schemas.openxmlformats.org/officeDocument/2006/relationships/chart" Target="/ppt/slides/charts/chart2.xml" Id="Rf5a460f1043345fe" /><Relationship Type="http://schemas.openxmlformats.org/officeDocument/2006/relationships/notesSlide" Target="/ppt/notesSlides/notesSlide2.xml" Id="Ree0b6381b9fd4e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8cb41ced644a39" /><Relationship Type="http://schemas.openxmlformats.org/officeDocument/2006/relationships/chart" Target="/ppt/slides/charts/chart3.xml" Id="R35f472d5fac9469c" /><Relationship Type="http://schemas.openxmlformats.org/officeDocument/2006/relationships/chart" Target="/ppt/slides/charts/chart4.xml" Id="R32bab6d756554af9" /><Relationship Type="http://schemas.openxmlformats.org/officeDocument/2006/relationships/chart" Target="/ppt/slides/charts/chart5.xml" Id="R2828e32f0d6b44b2" /><Relationship Type="http://schemas.openxmlformats.org/officeDocument/2006/relationships/notesSlide" Target="/ppt/notesSlides/notesSlide3.xml" Id="Ra5c68738bec640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e3b6f096474508" /><Relationship Type="http://schemas.openxmlformats.org/officeDocument/2006/relationships/notesSlide" Target="/ppt/notesSlides/notesSlide4.xml" Id="R76c004adc16e4a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87e27c67716446a" /><Relationship Type="http://schemas.openxmlformats.org/officeDocument/2006/relationships/notesSlide" Target="/ppt/notesSlides/notesSlide5.xml" Id="R5c851be06c35428f" /></Relationships>
</file>

<file path=ppt/slides/charts/chart1.xml><?xml version="1.0" encoding="utf-8"?>
<c:chartSpace xmlns:c="http://schemas.openxmlformats.org/drawingml/2006/chart">
  <c:lang val="en-US"/>
  <c:chart>
    <c:plotArea>
      <c:barChart>
        <c:barDir val="col"/>
        <c:grouping val="clustered"/>
        <c:varyColors val="0"/>
        <c:ser>
          <c:idx val="0"/>
          <c:order val="0"/>
          <c:tx>
            <c:v>Significant ROIs</c:v>
          </c:tx>
          <c:dPt>
            <c:idx val="0"/>
            <c:invertIfNegative val="0"/>
            <c:spPr>
              <a:solidFill xmlns:a="http://schemas.openxmlformats.org/drawingml/2006/main">
                <a:srgbClr val="1675A9"/>
              </a:solidFill>
            </c:spPr>
          </c:dPt>
          <c:dPt>
            <c:idx val="1"/>
            <c:invertIfNegative val="0"/>
            <c:spPr>
              <a:solidFill xmlns:a="http://schemas.openxmlformats.org/drawingml/2006/main">
                <a:srgbClr val="D47726"/>
              </a:solidFill>
            </c:spPr>
          </c:dPt>
          <c:dPt>
            <c:idx val="2"/>
            <c:invertIfNegative val="0"/>
            <c:spPr>
              <a:solidFill xmlns:a="http://schemas.openxmlformats.org/drawingml/2006/main">
                <a:srgbClr val="6A4AA2"/>
              </a:solidFill>
            </c:spPr>
          </c:dPt>
          <c:cat>
            <c:strLit>
              <c:ptCount val="3"/>
              <c:pt idx="0">
                <c:v>cHRF</c:v>
              </c:pt>
              <c:pt idx="1">
                <c:v>cHRFderiv</c:v>
              </c:pt>
              <c:pt idx="2">
                <c:v>sHRF</c:v>
              </c:pt>
            </c:strLit>
          </c:cat>
          <c:val>
            <c:numLit>
              <c:formatCode>General</c:formatCode>
              <c:ptCount val="3"/>
              <c:pt idx="0">
                <c:v>332</c:v>
              </c:pt>
              <c:pt idx="1">
                <c:v>304</c:v>
              </c:pt>
              <c:pt idx="2">
                <c:v>114</c:v>
              </c:pt>
            </c:numLit>
          </c:val>
        </c:ser>
        <c:dLbls>
          <c:txPr>
            <a:bodyPr xmlns:a="http://schemas.openxmlformats.org/drawingml/2006/main" anchorCtr="1"/>
            <a:lstStyle xmlns:a="http://schemas.openxmlformats.org/drawingml/2006/main"/>
            <a:p xmlns:a="http://schemas.openxmlformats.org/drawingml/2006/main">
              <a:pPr>
                <a:defRPr sz="2025" b="1">
                  <a:solidFill>
                    <a:srgbClr val="192B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92B36"/>
                </a:solidFill>
                <a:latin typeface="Arial"/>
                <a:ea typeface="Arial"/>
                <a:cs typeface="Arial"/>
              </a:defRPr>
            </a:pPr>
          </a:p>
        </c:txPr>
        <c:crossAx val="48672768"/>
      </c:catAx>
      <c:valAx>
        <c:axId val="48672768"/>
        <c:scaling>
          <c:orientation val="minMax"/>
          <c:max val="489"/>
          <c:min val="0"/>
        </c:scaling>
        <c:delete val="0"/>
        <c:axPos val="l"/>
        <c:majorGridlines>
          <c:spPr>
            <a:ln xmlns:a="http://schemas.openxmlformats.org/drawingml/2006/main" w="9525">
              <a:solidFill>
                <a:srgbClr val="E1E6E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ROIs passing Holm correction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92B36"/>
                </a:solidFill>
                <a:latin typeface="Arial"/>
                <a:ea typeface="Arial"/>
                <a:cs typeface="Arial"/>
              </a:defRPr>
            </a:pPr>
          </a:p>
        </c:txPr>
        <c:crossAx val="48650112"/>
        <c:crossBetween val="between"/>
        <c:majorUnit val="100"/>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col"/>
        <c:varyColors val="0"/>
        <c:ser>
          <c:idx val="0"/>
          <c:order val="0"/>
          <c:tx>
            <c:v>ROIs</c:v>
          </c:tx>
          <c:dPt>
            <c:idx val="0"/>
            <c:invertIfNegative val="0"/>
            <c:spPr>
              <a:solidFill xmlns:a="http://schemas.openxmlformats.org/drawingml/2006/main">
                <a:srgbClr val="1675A9"/>
              </a:solidFill>
            </c:spPr>
          </c:dPt>
          <c:dPt>
            <c:idx val="1"/>
            <c:invertIfNegative val="0"/>
            <c:spPr>
              <a:solidFill xmlns:a="http://schemas.openxmlformats.org/drawingml/2006/main">
                <a:srgbClr val="93A8B7"/>
              </a:solidFill>
            </c:spPr>
          </c:dPt>
          <c:dPt>
            <c:idx val="2"/>
            <c:invertIfNegative val="0"/>
            <c:spPr>
              <a:solidFill xmlns:a="http://schemas.openxmlformats.org/drawingml/2006/main">
                <a:srgbClr val="93A8B7"/>
              </a:solidFill>
            </c:spPr>
          </c:dPt>
          <c:dPt>
            <c:idx val="3"/>
            <c:invertIfNegative val="0"/>
            <c:spPr>
              <a:solidFill xmlns:a="http://schemas.openxmlformats.org/drawingml/2006/main">
                <a:srgbClr val="93A8B7"/>
              </a:solidFill>
            </c:spPr>
          </c:dPt>
          <c:dPt>
            <c:idx val="4"/>
            <c:invertIfNegative val="0"/>
            <c:spPr>
              <a:solidFill xmlns:a="http://schemas.openxmlformats.org/drawingml/2006/main">
                <a:srgbClr val="93A8B7"/>
              </a:solidFill>
            </c:spPr>
          </c:dPt>
          <c:dPt>
            <c:idx val="5"/>
            <c:invertIfNegative val="0"/>
            <c:spPr>
              <a:solidFill xmlns:a="http://schemas.openxmlformats.org/drawingml/2006/main">
                <a:srgbClr val="93A8B7"/>
              </a:solidFill>
            </c:spPr>
          </c:dPt>
          <c:dPt>
            <c:idx val="6"/>
            <c:invertIfNegative val="0"/>
            <c:spPr>
              <a:solidFill xmlns:a="http://schemas.openxmlformats.org/drawingml/2006/main">
                <a:srgbClr val="93A8B7"/>
              </a:solidFill>
            </c:spPr>
          </c:dPt>
          <c:cat>
            <c:strLit>
              <c:ptCount val="7"/>
              <c:pt idx="0">
                <c:v>All three</c:v>
              </c:pt>
              <c:pt idx="1">
                <c:v>cHRF + deriv</c:v>
              </c:pt>
              <c:pt idx="2">
                <c:v>cHRF + sHRF</c:v>
              </c:pt>
              <c:pt idx="3">
                <c:v>deriv + sHRF</c:v>
              </c:pt>
              <c:pt idx="4">
                <c:v>cHRF only</c:v>
              </c:pt>
              <c:pt idx="5">
                <c:v>deriv only</c:v>
              </c:pt>
              <c:pt idx="6">
                <c:v>sHRF only</c:v>
              </c:pt>
            </c:strLit>
          </c:cat>
          <c:val>
            <c:numLit>
              <c:formatCode>General</c:formatCode>
              <c:ptCount val="7"/>
              <c:pt idx="0">
                <c:v>104</c:v>
              </c:pt>
              <c:pt idx="1">
                <c:v>191</c:v>
              </c:pt>
              <c:pt idx="2">
                <c:v>5</c:v>
              </c:pt>
              <c:pt idx="3">
                <c:v>3</c:v>
              </c:pt>
              <c:pt idx="4">
                <c:v>32</c:v>
              </c:pt>
              <c:pt idx="5">
                <c:v>6</c:v>
              </c:pt>
              <c:pt idx="6">
                <c:v>2</c:v>
              </c:pt>
            </c:numLit>
          </c:val>
        </c:ser>
        <c:dLbls>
          <c:txPr>
            <a:bodyPr xmlns:a="http://schemas.openxmlformats.org/drawingml/2006/main" anchorCtr="1"/>
            <a:lstStyle xmlns:a="http://schemas.openxmlformats.org/drawingml/2006/main"/>
            <a:p xmlns:a="http://schemas.openxmlformats.org/drawingml/2006/main">
              <a:pPr>
                <a:defRPr sz="1650" b="1">
                  <a:solidFill>
                    <a:srgbClr val="192B36"/>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92B36"/>
                </a:solidFill>
                <a:latin typeface="Arial"/>
                <a:ea typeface="Arial"/>
                <a:cs typeface="Arial"/>
              </a:defRPr>
            </a:pPr>
          </a:p>
        </c:txPr>
        <c:crossAx val="48672768"/>
      </c:catAx>
      <c:valAx>
        <c:axId val="48672768"/>
        <c:scaling>
          <c:orientation val="minMax"/>
          <c:max val="220"/>
          <c:min val="0"/>
        </c:scaling>
        <c:delete val="0"/>
        <c:axPos val="l"/>
        <c:majorGridlines>
          <c:spPr>
            <a:ln xmlns:a="http://schemas.openxmlformats.org/drawingml/2006/main" w="9525">
              <a:solidFill>
                <a:srgbClr val="E1E6E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Number of ROIs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92B36"/>
                </a:solidFill>
                <a:latin typeface="Arial"/>
                <a:ea typeface="Arial"/>
                <a:cs typeface="Arial"/>
              </a:defRPr>
            </a:pPr>
          </a:p>
        </c:txPr>
        <c:crossAx val="48650112"/>
        <c:crossBetween val="between"/>
        <c:majorUnit val="50"/>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950" b="1">
                <a:solidFill>
                  <a:srgbClr val="192B36"/>
                </a:solidFill>
                <a:latin typeface="Arial"/>
                <a:ea typeface="Arial"/>
                <a:cs typeface="Arial"/>
              </a:rPr>
              <a:t>Left V1 (ROI 1)</a:t>
            </a:r>
          </a:p>
        </c:rich>
      </c:tx>
      <c:overlay val="0"/>
      <c:txPr>
        <a:bodyPr xmlns:a="http://schemas.openxmlformats.org/drawingml/2006/main" anchorCtr="1"/>
        <a:lstStyle xmlns:a="http://schemas.openxmlformats.org/drawingml/2006/main"/>
        <a:p xmlns:a="http://schemas.openxmlformats.org/drawingml/2006/main">
          <a:pPr>
            <a:defRPr sz="1950" b="1">
              <a:solidFill>
                <a:srgbClr val="192B36"/>
              </a:solidFill>
              <a:latin typeface="Arial"/>
              <a:ea typeface="Arial"/>
              <a:cs typeface="Arial"/>
            </a:defRPr>
          </a:pPr>
        </a:p>
      </c:txPr>
    </c:title>
    <c:plotArea>
      <c:scatterChart>
        <c:scatterStyle val="line"/>
        <c:ser>
          <c:idx val="0"/>
          <c:order val="0"/>
          <c:tx>
            <c:v>Zero</c:v>
          </c:tx>
          <c:spPr>
            <a:ln xmlns:a="http://schemas.openxmlformats.org/drawingml/2006/main" w="9525">
              <a:solidFill>
                <a:srgbClr val="8B9297"/>
              </a:solidFill>
            </a:ln>
          </c:spPr>
          <c:marker>
            <c:symbol val="none"/>
          </c:marker>
          <c:xVal>
            <c:numLit>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Lit>
          </c:xVal>
          <c:yVal>
            <c:numLit>
              <c:formatCode>0.00</c:formatCode>
              <c:ptCount val="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numLit>
          </c:yVal>
        </c:ser>
        <c:ser>
          <c:idx val="1"/>
          <c:order val="1"/>
          <c:tx>
            <c:v>cHRF</c:v>
          </c:tx>
          <c:spPr>
            <a:ln xmlns:a="http://schemas.openxmlformats.org/drawingml/2006/main" w="23813">
              <a:solidFill>
                <a:srgbClr val="1675A9"/>
              </a:solidFill>
            </a:ln>
          </c:spPr>
          <c:marker>
            <c:symbol val="none"/>
          </c:marker>
          <c:xVal>
            <c:numLit>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Lit>
          </c:xVal>
          <c:yVal>
            <c:numLit>
              <c:formatCode>0.00</c:formatCode>
              <c:ptCount val="41"/>
              <c:pt idx="0">
                <c:v>0.009010445</c:v>
              </c:pt>
              <c:pt idx="1">
                <c:v>0.003466516</c:v>
              </c:pt>
              <c:pt idx="2">
                <c:v>-0.003294584</c:v>
              </c:pt>
              <c:pt idx="3">
                <c:v>-0.006045661</c:v>
              </c:pt>
              <c:pt idx="4">
                <c:v>-0.002917979</c:v>
              </c:pt>
              <c:pt idx="5">
                <c:v>0.00408409</c:v>
              </c:pt>
              <c:pt idx="6">
                <c:v>0.011581199</c:v>
              </c:pt>
              <c:pt idx="7">
                <c:v>0.016246001</c:v>
              </c:pt>
              <c:pt idx="8">
                <c:v>0.015555344</c:v>
              </c:pt>
              <c:pt idx="9">
                <c:v>0.009557423</c:v>
              </c:pt>
              <c:pt idx="10">
                <c:v>0.001747247</c:v>
              </c:pt>
              <c:pt idx="11">
                <c:v>-0.00331635</c:v>
              </c:pt>
              <c:pt idx="12">
                <c:v>-0.003675786</c:v>
              </c:pt>
              <c:pt idx="13">
                <c:v>-0.001041092</c:v>
              </c:pt>
              <c:pt idx="14">
                <c:v>0.001101721</c:v>
              </c:pt>
              <c:pt idx="15">
                <c:v>-0.000243089</c:v>
              </c:pt>
              <c:pt idx="16">
                <c:v>-0.006125514</c:v>
              </c:pt>
              <c:pt idx="17">
                <c:v>-0.014899549</c:v>
              </c:pt>
              <c:pt idx="18">
                <c:v>-0.022906582</c:v>
              </c:pt>
              <c:pt idx="19">
                <c:v>-0.026521425</c:v>
              </c:pt>
              <c:pt idx="20">
                <c:v>-0.023934431</c:v>
              </c:pt>
              <c:pt idx="21">
                <c:v>-0.015989599</c:v>
              </c:pt>
              <c:pt idx="22">
                <c:v>-0.006041155</c:v>
              </c:pt>
              <c:pt idx="23">
                <c:v>0.002013968</c:v>
              </c:pt>
              <c:pt idx="24">
                <c:v>0.006557549</c:v>
              </c:pt>
              <c:pt idx="25">
                <c:v>0.00868382</c:v>
              </c:pt>
              <c:pt idx="26">
                <c:v>0.009910106</c:v>
              </c:pt>
              <c:pt idx="27">
                <c:v>0.010712206</c:v>
              </c:pt>
              <c:pt idx="28">
                <c:v>0.011332204</c:v>
              </c:pt>
              <c:pt idx="29">
                <c:v>0.012348995</c:v>
              </c:pt>
              <c:pt idx="30">
                <c:v>0.013683598</c:v>
              </c:pt>
              <c:pt idx="31">
                <c:v>0.013979152</c:v>
              </c:pt>
              <c:pt idx="32">
                <c:v>0.011720453</c:v>
              </c:pt>
              <c:pt idx="33">
                <c:v>0.00681428</c:v>
              </c:pt>
              <c:pt idx="34">
                <c:v>0.000790883</c:v>
              </c:pt>
              <c:pt idx="35">
                <c:v>-0.004875416</c:v>
              </c:pt>
              <c:pt idx="36">
                <c:v>-0.010778778</c:v>
              </c:pt>
              <c:pt idx="37">
                <c:v>-0.019149579</c:v>
              </c:pt>
              <c:pt idx="38">
                <c:v>-0.030327872</c:v>
              </c:pt>
              <c:pt idx="39">
                <c:v>-0.039788209</c:v>
              </c:pt>
              <c:pt idx="40">
                <c:v>-0.040826377</c:v>
              </c:pt>
            </c:numLit>
          </c:yVal>
        </c:ser>
        <c:ser>
          <c:idx val="2"/>
          <c:order val="2"/>
          <c:tx>
            <c:v>cHRFderiv</c:v>
          </c:tx>
          <c:spPr>
            <a:ln xmlns:a="http://schemas.openxmlformats.org/drawingml/2006/main" w="23813">
              <a:solidFill>
                <a:srgbClr val="D47726"/>
              </a:solidFill>
            </a:ln>
          </c:spPr>
          <c:marker>
            <c:symbol val="none"/>
          </c:marker>
          <c:xVal>
            <c:numLit>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Lit>
          </c:xVal>
          <c:yVal>
            <c:numLit>
              <c:formatCode>0.00</c:formatCode>
              <c:ptCount val="41"/>
              <c:pt idx="0">
                <c:v>0.004461634</c:v>
              </c:pt>
              <c:pt idx="1">
                <c:v>-0.001969757</c:v>
              </c:pt>
              <c:pt idx="2">
                <c:v>-0.009919705</c:v>
              </c:pt>
              <c:pt idx="3">
                <c:v>-0.015307499</c:v>
              </c:pt>
              <c:pt idx="4">
                <c:v>-0.016338595</c:v>
              </c:pt>
              <c:pt idx="5">
                <c:v>-0.013399958</c:v>
              </c:pt>
              <c:pt idx="6">
                <c:v>-0.007640168</c:v>
              </c:pt>
              <c:pt idx="7">
                <c:v>-0.001133866</c:v>
              </c:pt>
              <c:pt idx="8">
                <c:v>0.003251338</c:v>
              </c:pt>
              <c:pt idx="9">
                <c:v>0.004170315</c:v>
              </c:pt>
              <c:pt idx="10">
                <c:v>0.003545299</c:v>
              </c:pt>
              <c:pt idx="11">
                <c:v>0.004722401</c:v>
              </c:pt>
              <c:pt idx="12">
                <c:v>0.009017979</c:v>
              </c:pt>
              <c:pt idx="13">
                <c:v>0.014607007</c:v>
              </c:pt>
              <c:pt idx="14">
                <c:v>0.018116814</c:v>
              </c:pt>
              <c:pt idx="15">
                <c:v>0.016645808</c:v>
              </c:pt>
              <c:pt idx="16">
                <c:v>0.009267022</c:v>
              </c:pt>
              <c:pt idx="17">
                <c:v>-0.002088917</c:v>
              </c:pt>
              <c:pt idx="18">
                <c:v>-0.013341563</c:v>
              </c:pt>
              <c:pt idx="19">
                <c:v>-0.02043879</c:v>
              </c:pt>
              <c:pt idx="20">
                <c:v>-0.021233874</c:v>
              </c:pt>
              <c:pt idx="21">
                <c:v>-0.016266059</c:v>
              </c:pt>
              <c:pt idx="22">
                <c:v>-0.008401752</c:v>
              </c:pt>
              <c:pt idx="23">
                <c:v>-0.000818169</c:v>
              </c:pt>
              <c:pt idx="24">
                <c:v>0.005339796</c:v>
              </c:pt>
              <c:pt idx="25">
                <c:v>0.010718366</c:v>
              </c:pt>
              <c:pt idx="26">
                <c:v>0.015406043</c:v>
              </c:pt>
              <c:pt idx="27">
                <c:v>0.018269696</c:v>
              </c:pt>
              <c:pt idx="28">
                <c:v>0.018755987</c:v>
              </c:pt>
              <c:pt idx="29">
                <c:v>0.017798765</c:v>
              </c:pt>
              <c:pt idx="30">
                <c:v>0.016326589</c:v>
              </c:pt>
              <c:pt idx="31">
                <c:v>0.013888741</c:v>
              </c:pt>
              <c:pt idx="32">
                <c:v>0.009416585</c:v>
              </c:pt>
              <c:pt idx="33">
                <c:v>0.002923853</c:v>
              </c:pt>
              <c:pt idx="34">
                <c:v>-0.004046763</c:v>
              </c:pt>
              <c:pt idx="35">
                <c:v>-0.009955651</c:v>
              </c:pt>
              <c:pt idx="36">
                <c:v>-0.0152395</c:v>
              </c:pt>
              <c:pt idx="37">
                <c:v>-0.021999092</c:v>
              </c:pt>
              <c:pt idx="38">
                <c:v>-0.030792678</c:v>
              </c:pt>
              <c:pt idx="39">
                <c:v>-0.037913952</c:v>
              </c:pt>
              <c:pt idx="40">
                <c:v>-0.037712593</c:v>
              </c:pt>
            </c:numLit>
          </c:yVal>
        </c:ser>
        <c:ser>
          <c:idx val="3"/>
          <c:order val="3"/>
          <c:tx>
            <c:v>sHRF</c:v>
          </c:tx>
          <c:spPr>
            <a:ln xmlns:a="http://schemas.openxmlformats.org/drawingml/2006/main" w="23813">
              <a:solidFill>
                <a:srgbClr val="6A4AA2"/>
              </a:solidFill>
            </a:ln>
          </c:spPr>
          <c:marker>
            <c:symbol val="none"/>
          </c:marker>
          <c:xVal>
            <c:numLit>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Lit>
          </c:xVal>
          <c:yVal>
            <c:numLit>
              <c:formatCode>0.00</c:formatCode>
              <c:ptCount val="41"/>
              <c:pt idx="0">
                <c:v>0.028062648</c:v>
              </c:pt>
              <c:pt idx="1">
                <c:v>0.020913028</c:v>
              </c:pt>
              <c:pt idx="2">
                <c:v>0.007702048</c:v>
              </c:pt>
              <c:pt idx="3">
                <c:v>-0.003260739</c:v>
              </c:pt>
              <c:pt idx="4">
                <c:v>-0.007733172</c:v>
              </c:pt>
              <c:pt idx="5">
                <c:v>-0.006936743</c:v>
              </c:pt>
              <c:pt idx="6">
                <c:v>-0.003773051</c:v>
              </c:pt>
              <c:pt idx="7">
                <c:v>-0.000643745</c:v>
              </c:pt>
              <c:pt idx="8">
                <c:v>0.000648794</c:v>
              </c:pt>
              <c:pt idx="9">
                <c:v>-0.000309872</c:v>
              </c:pt>
              <c:pt idx="10">
                <c:v>-0.001877487</c:v>
              </c:pt>
              <c:pt idx="11">
                <c:v>-0.001910783</c:v>
              </c:pt>
              <c:pt idx="12">
                <c:v>-6.9917E-05</c:v>
              </c:pt>
              <c:pt idx="13">
                <c:v>0.002023468</c:v>
              </c:pt>
              <c:pt idx="14">
                <c:v>0.002515474</c:v>
              </c:pt>
              <c:pt idx="15">
                <c:v>0.000646951</c:v>
              </c:pt>
              <c:pt idx="16">
                <c:v>-0.002943695</c:v>
              </c:pt>
              <c:pt idx="17">
                <c:v>-0.006439495</c:v>
              </c:pt>
              <c:pt idx="18">
                <c:v>-0.007791366</c:v>
              </c:pt>
              <c:pt idx="19">
                <c:v>-0.006041329</c:v>
              </c:pt>
              <c:pt idx="20">
                <c:v>-0.001862824</c:v>
              </c:pt>
              <c:pt idx="21">
                <c:v>0.002774108</c:v>
              </c:pt>
              <c:pt idx="22">
                <c:v>0.005458181</c:v>
              </c:pt>
              <c:pt idx="23">
                <c:v>0.004885959</c:v>
              </c:pt>
              <c:pt idx="24">
                <c:v>0.002013188</c:v>
              </c:pt>
              <c:pt idx="25">
                <c:v>-0.001004706</c:v>
              </c:pt>
              <c:pt idx="26">
                <c:v>-0.003014385</c:v>
              </c:pt>
              <c:pt idx="27">
                <c:v>-0.004159319</c:v>
              </c:pt>
              <c:pt idx="28">
                <c:v>-0.004275738</c:v>
              </c:pt>
              <c:pt idx="29">
                <c:v>-0.002474022</c:v>
              </c:pt>
              <c:pt idx="30">
                <c:v>0.001214665</c:v>
              </c:pt>
              <c:pt idx="31">
                <c:v>0.004792773</c:v>
              </c:pt>
              <c:pt idx="32">
                <c:v>0.005731083</c:v>
              </c:pt>
              <c:pt idx="33">
                <c:v>0.003445268</c:v>
              </c:pt>
              <c:pt idx="34">
                <c:v>0.000164397</c:v>
              </c:pt>
              <c:pt idx="35">
                <c:v>-0.000976349</c:v>
              </c:pt>
              <c:pt idx="36">
                <c:v>0.000811234</c:v>
              </c:pt>
              <c:pt idx="37">
                <c:v>0.00263143</c:v>
              </c:pt>
              <c:pt idx="38">
                <c:v>0.000584648</c:v>
              </c:pt>
              <c:pt idx="39">
                <c:v>-0.005519809</c:v>
              </c:pt>
              <c:pt idx="40">
                <c:v>-0.011070021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1E6E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residual contrast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92B36"/>
                </a:solidFill>
                <a:latin typeface="Arial"/>
                <a:ea typeface="Arial"/>
                <a:cs typeface="Arial"/>
              </a:defRPr>
            </a:pPr>
          </a:p>
        </c:txPr>
        <c:crossAx val="48650112"/>
      </c:valAx>
      <c:valAx>
        <c:axId val="48650112"/>
        <c:scaling>
          <c:orientation val="minMax"/>
          <c:max val="28.8"/>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92B36"/>
                </a:solidFill>
                <a:latin typeface="Arial"/>
                <a:ea typeface="Arial"/>
                <a:cs typeface="Arial"/>
              </a:defRPr>
            </a:pPr>
          </a:p>
        </c:txPr>
        <c:crossAx val="48672768"/>
        <c:majorUnit val="7.2"/>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950" b="1">
                <a:solidFill>
                  <a:srgbClr val="192B36"/>
                </a:solidFill>
                <a:latin typeface="Arial"/>
                <a:ea typeface="Arial"/>
                <a:cs typeface="Arial"/>
              </a:rPr>
              <a:t>Right V1 (ROI 2)</a:t>
            </a:r>
          </a:p>
        </c:rich>
      </c:tx>
      <c:overlay val="0"/>
      <c:txPr>
        <a:bodyPr xmlns:a="http://schemas.openxmlformats.org/drawingml/2006/main" anchorCtr="1"/>
        <a:lstStyle xmlns:a="http://schemas.openxmlformats.org/drawingml/2006/main"/>
        <a:p xmlns:a="http://schemas.openxmlformats.org/drawingml/2006/main">
          <a:pPr>
            <a:defRPr sz="1950" b="1">
              <a:solidFill>
                <a:srgbClr val="192B36"/>
              </a:solidFill>
              <a:latin typeface="Arial"/>
              <a:ea typeface="Arial"/>
              <a:cs typeface="Arial"/>
            </a:defRPr>
          </a:pPr>
        </a:p>
      </c:txPr>
    </c:title>
    <c:plotArea>
      <c:scatterChart>
        <c:scatterStyle val="line"/>
        <c:ser>
          <c:idx val="0"/>
          <c:order val="0"/>
          <c:tx>
            <c:v>Zero</c:v>
          </c:tx>
          <c:spPr>
            <a:ln xmlns:a="http://schemas.openxmlformats.org/drawingml/2006/main" w="9525">
              <a:solidFill>
                <a:srgbClr val="8B9297"/>
              </a:solidFill>
            </a:ln>
          </c:spPr>
          <c:marker>
            <c:symbol val="none"/>
          </c:marker>
          <c:xVal>
            <c:numLit>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Lit>
          </c:xVal>
          <c:yVal>
            <c:numLit>
              <c:formatCode>0.00</c:formatCode>
              <c:ptCount val="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numLit>
          </c:yVal>
        </c:ser>
        <c:ser>
          <c:idx val="1"/>
          <c:order val="1"/>
          <c:tx>
            <c:v>cHRF</c:v>
          </c:tx>
          <c:spPr>
            <a:ln xmlns:a="http://schemas.openxmlformats.org/drawingml/2006/main" w="23813">
              <a:solidFill>
                <a:srgbClr val="1675A9"/>
              </a:solidFill>
            </a:ln>
          </c:spPr>
          <c:marker>
            <c:symbol val="none"/>
          </c:marker>
          <c:xVal>
            <c:numLit>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Lit>
          </c:xVal>
          <c:yVal>
            <c:numLit>
              <c:formatCode>0.00</c:formatCode>
              <c:ptCount val="41"/>
              <c:pt idx="0">
                <c:v>0.023603028</c:v>
              </c:pt>
              <c:pt idx="1">
                <c:v>0.016870629</c:v>
              </c:pt>
              <c:pt idx="2">
                <c:v>0.00501939</c:v>
              </c:pt>
              <c:pt idx="3">
                <c:v>-0.003021223</c:v>
              </c:pt>
              <c:pt idx="4">
                <c:v>-0.002073091</c:v>
              </c:pt>
              <c:pt idx="5">
                <c:v>0.005984836</c:v>
              </c:pt>
              <c:pt idx="6">
                <c:v>0.015559313</c:v>
              </c:pt>
              <c:pt idx="7">
                <c:v>0.021515258</c:v>
              </c:pt>
              <c:pt idx="8">
                <c:v>0.021232901</c:v>
              </c:pt>
              <c:pt idx="9">
                <c:v>0.015308207</c:v>
              </c:pt>
              <c:pt idx="10">
                <c:v>0.007049851</c:v>
              </c:pt>
              <c:pt idx="11">
                <c:v>0.000297221</c:v>
              </c:pt>
              <c:pt idx="12">
                <c:v>-0.003127183</c:v>
              </c:pt>
              <c:pt idx="13">
                <c:v>-0.004170544</c:v>
              </c:pt>
              <c:pt idx="14">
                <c:v>-0.00535877</c:v>
              </c:pt>
              <c:pt idx="15">
                <c:v>-0.00911463</c:v>
              </c:pt>
              <c:pt idx="16">
                <c:v>-0.01637156</c:v>
              </c:pt>
              <c:pt idx="17">
                <c:v>-0.025918776</c:v>
              </c:pt>
              <c:pt idx="18">
                <c:v>-0.035087485</c:v>
              </c:pt>
              <c:pt idx="19">
                <c:v>-0.041009955</c:v>
              </c:pt>
              <c:pt idx="20">
                <c:v>-0.041277267</c:v>
              </c:pt>
              <c:pt idx="21">
                <c:v>-0.034929738</c:v>
              </c:pt>
              <c:pt idx="22">
                <c:v>-0.02397082</c:v>
              </c:pt>
              <c:pt idx="23">
                <c:v>-0.012489097</c:v>
              </c:pt>
              <c:pt idx="24">
                <c:v>-0.003270157</c:v>
              </c:pt>
              <c:pt idx="25">
                <c:v>0.003467513</c:v>
              </c:pt>
              <c:pt idx="26">
                <c:v>0.00815473</c:v>
              </c:pt>
              <c:pt idx="27">
                <c:v>0.011042371</c:v>
              </c:pt>
              <c:pt idx="28">
                <c:v>0.013523245</c:v>
              </c:pt>
              <c:pt idx="29">
                <c:v>0.017812216</c:v>
              </c:pt>
              <c:pt idx="30">
                <c:v>0.024194833</c:v>
              </c:pt>
              <c:pt idx="31">
                <c:v>0.030067769</c:v>
              </c:pt>
              <c:pt idx="32">
                <c:v>0.032557079</c:v>
              </c:pt>
              <c:pt idx="33">
                <c:v>0.031093594</c:v>
              </c:pt>
              <c:pt idx="34">
                <c:v>0.026840116</c:v>
              </c:pt>
              <c:pt idx="35">
                <c:v>0.020100416</c:v>
              </c:pt>
              <c:pt idx="36">
                <c:v>0.008918076</c:v>
              </c:pt>
              <c:pt idx="37">
                <c:v>-0.008852658</c:v>
              </c:pt>
              <c:pt idx="38">
                <c:v>-0.030980179</c:v>
              </c:pt>
              <c:pt idx="39">
                <c:v>-0.048773945</c:v>
              </c:pt>
              <c:pt idx="40">
                <c:v>-0.05257664</c:v>
              </c:pt>
            </c:numLit>
          </c:yVal>
        </c:ser>
        <c:ser>
          <c:idx val="2"/>
          <c:order val="2"/>
          <c:tx>
            <c:v>cHRFderiv</c:v>
          </c:tx>
          <c:spPr>
            <a:ln xmlns:a="http://schemas.openxmlformats.org/drawingml/2006/main" w="23813">
              <a:solidFill>
                <a:srgbClr val="D47726"/>
              </a:solidFill>
            </a:ln>
          </c:spPr>
          <c:marker>
            <c:symbol val="none"/>
          </c:marker>
          <c:xVal>
            <c:numLit>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Lit>
          </c:xVal>
          <c:yVal>
            <c:numLit>
              <c:formatCode>0.00</c:formatCode>
              <c:ptCount val="41"/>
              <c:pt idx="0">
                <c:v>0.023522505</c:v>
              </c:pt>
              <c:pt idx="1">
                <c:v>0.018622543</c:v>
              </c:pt>
              <c:pt idx="2">
                <c:v>0.007318678</c:v>
              </c:pt>
              <c:pt idx="3">
                <c:v>-0.004564429</c:v>
              </c:pt>
              <c:pt idx="4">
                <c:v>-0.012873121</c:v>
              </c:pt>
              <c:pt idx="5">
                <c:v>-0.016585433</c:v>
              </c:pt>
              <c:pt idx="6">
                <c:v>-0.016029261</c:v>
              </c:pt>
              <c:pt idx="7">
                <c:v>-0.012199798</c:v>
              </c:pt>
              <c:pt idx="8">
                <c:v>-0.006961774</c:v>
              </c:pt>
              <c:pt idx="9">
                <c:v>-0.002027605</c:v>
              </c:pt>
              <c:pt idx="10">
                <c:v>0.002373737</c:v>
              </c:pt>
              <c:pt idx="11">
                <c:v>0.007069166</c:v>
              </c:pt>
              <c:pt idx="12">
                <c:v>0.01228938</c:v>
              </c:pt>
              <c:pt idx="13">
                <c:v>0.016827417</c:v>
              </c:pt>
              <c:pt idx="14">
                <c:v>0.018521173</c:v>
              </c:pt>
              <c:pt idx="15">
                <c:v>0.015357187</c:v>
              </c:pt>
              <c:pt idx="16">
                <c:v>0.006761082</c:v>
              </c:pt>
              <c:pt idx="17">
                <c:v>-0.005674187</c:v>
              </c:pt>
              <c:pt idx="18">
                <c:v>-0.01886647</c:v>
              </c:pt>
              <c:pt idx="19">
                <c:v>-0.029480122</c:v>
              </c:pt>
              <c:pt idx="20">
                <c:v>-0.034576725</c:v>
              </c:pt>
              <c:pt idx="21">
                <c:v>-0.032674415</c:v>
              </c:pt>
              <c:pt idx="22">
                <c:v>-0.025228043</c:v>
              </c:pt>
              <c:pt idx="23">
                <c:v>-0.015638521</c:v>
              </c:pt>
              <c:pt idx="24">
                <c:v>-0.006105094</c:v>
              </c:pt>
              <c:pt idx="25">
                <c:v>0.003029421</c:v>
              </c:pt>
              <c:pt idx="26">
                <c:v>0.011090513</c:v>
              </c:pt>
              <c:pt idx="27">
                <c:v>0.016787237</c:v>
              </c:pt>
              <c:pt idx="28">
                <c:v>0.02044776</c:v>
              </c:pt>
              <c:pt idx="29">
                <c:v>0.024142573</c:v>
              </c:pt>
              <c:pt idx="30">
                <c:v>0.028643841</c:v>
              </c:pt>
              <c:pt idx="31">
                <c:v>0.031951519</c:v>
              </c:pt>
              <c:pt idx="32">
                <c:v>0.031684932</c:v>
              </c:pt>
              <c:pt idx="33">
                <c:v>0.027675656</c:v>
              </c:pt>
              <c:pt idx="34">
                <c:v>0.021440388</c:v>
              </c:pt>
              <c:pt idx="35">
                <c:v>0.013656731</c:v>
              </c:pt>
              <c:pt idx="36">
                <c:v>0.002775642</c:v>
              </c:pt>
              <c:pt idx="37">
                <c:v>-0.013130794</c:v>
              </c:pt>
              <c:pt idx="38">
                <c:v>-0.032206427</c:v>
              </c:pt>
              <c:pt idx="39">
                <c:v>-0.046921182</c:v>
              </c:pt>
              <c:pt idx="40">
                <c:v>-0.049009461</c:v>
              </c:pt>
            </c:numLit>
          </c:yVal>
        </c:ser>
        <c:ser>
          <c:idx val="3"/>
          <c:order val="3"/>
          <c:tx>
            <c:v>sHRF</c:v>
          </c:tx>
          <c:spPr>
            <a:ln xmlns:a="http://schemas.openxmlformats.org/drawingml/2006/main" w="23813">
              <a:solidFill>
                <a:srgbClr val="6A4AA2"/>
              </a:solidFill>
            </a:ln>
          </c:spPr>
          <c:marker>
            <c:symbol val="none"/>
          </c:marker>
          <c:xVal>
            <c:numLit>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Lit>
          </c:xVal>
          <c:yVal>
            <c:numLit>
              <c:formatCode>0.00</c:formatCode>
              <c:ptCount val="41"/>
              <c:pt idx="0">
                <c:v>0.049656715</c:v>
              </c:pt>
              <c:pt idx="1">
                <c:v>0.039872058</c:v>
              </c:pt>
              <c:pt idx="2">
                <c:v>0.017243682</c:v>
              </c:pt>
              <c:pt idx="3">
                <c:v>-0.004841306</c:v>
              </c:pt>
              <c:pt idx="4">
                <c:v>-0.017081887</c:v>
              </c:pt>
              <c:pt idx="5">
                <c:v>-0.01923589</c:v>
              </c:pt>
              <c:pt idx="6">
                <c:v>-0.015551972</c:v>
              </c:pt>
              <c:pt idx="7">
                <c:v>-0.009883537</c:v>
              </c:pt>
              <c:pt idx="8">
                <c:v>-0.00448688</c:v>
              </c:pt>
              <c:pt idx="9">
                <c:v>-0.000327205</c:v>
              </c:pt>
              <c:pt idx="10">
                <c:v>0.002561323</c:v>
              </c:pt>
              <c:pt idx="11">
                <c:v>0.004348253</c:v>
              </c:pt>
              <c:pt idx="12">
                <c:v>0.004770094</c:v>
              </c:pt>
              <c:pt idx="13">
                <c:v>0.00338487</c:v>
              </c:pt>
              <c:pt idx="14">
                <c:v>0.00023134</c:v>
              </c:pt>
              <c:pt idx="15">
                <c:v>-0.003915999</c:v>
              </c:pt>
              <c:pt idx="16">
                <c:v>-0.007641412</c:v>
              </c:pt>
              <c:pt idx="17">
                <c:v>-0.00940248</c:v>
              </c:pt>
              <c:pt idx="18">
                <c:v>-0.008563244</c:v>
              </c:pt>
              <c:pt idx="19">
                <c:v>-0.005744802</c:v>
              </c:pt>
              <c:pt idx="20">
                <c:v>-0.00186318</c:v>
              </c:pt>
              <c:pt idx="21">
                <c:v>0.002309828</c:v>
              </c:pt>
              <c:pt idx="22">
                <c:v>0.005396453</c:v>
              </c:pt>
              <c:pt idx="23">
                <c:v>0.005886917</c:v>
              </c:pt>
              <c:pt idx="24">
                <c:v>0.003884047</c:v>
              </c:pt>
              <c:pt idx="25">
                <c:v>0.000825367</c:v>
              </c:pt>
              <c:pt idx="26">
                <c:v>-0.002491959</c:v>
              </c:pt>
              <c:pt idx="27">
                <c:v>-0.005804235</c:v>
              </c:pt>
              <c:pt idx="28">
                <c:v>-0.007568743</c:v>
              </c:pt>
              <c:pt idx="29">
                <c:v>-0.005601256</c:v>
              </c:pt>
              <c:pt idx="30">
                <c:v>-0.000200164</c:v>
              </c:pt>
              <c:pt idx="31">
                <c:v>0.005095318</c:v>
              </c:pt>
              <c:pt idx="32">
                <c:v>0.006815856</c:v>
              </c:pt>
              <c:pt idx="33">
                <c:v>0.00481332</c:v>
              </c:pt>
              <c:pt idx="34">
                <c:v>0.001974721</c:v>
              </c:pt>
              <c:pt idx="35">
                <c:v>0.001285396</c:v>
              </c:pt>
              <c:pt idx="36">
                <c:v>0.002930606</c:v>
              </c:pt>
              <c:pt idx="37">
                <c:v>0.003798942</c:v>
              </c:pt>
              <c:pt idx="38">
                <c:v>0.000468382</c:v>
              </c:pt>
              <c:pt idx="39">
                <c:v>-0.006479893</c:v>
              </c:pt>
              <c:pt idx="40">
                <c:v>-0.012085488</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1E6E9"/>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92B36"/>
                </a:solidFill>
                <a:latin typeface="Arial"/>
                <a:ea typeface="Arial"/>
                <a:cs typeface="Arial"/>
              </a:defRPr>
            </a:pPr>
          </a:p>
        </c:txPr>
        <c:crossAx val="48650112"/>
      </c:valAx>
      <c:valAx>
        <c:axId val="48650112"/>
        <c:scaling>
          <c:orientation val="minMax"/>
          <c:max val="28.8"/>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92B36"/>
                </a:solidFill>
                <a:latin typeface="Arial"/>
                <a:ea typeface="Arial"/>
                <a:cs typeface="Arial"/>
              </a:defRPr>
            </a:pPr>
          </a:p>
        </c:txPr>
        <c:crossAx val="48672768"/>
        <c:majorUnit val="7.2"/>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950" b="1">
                <a:solidFill>
                  <a:srgbClr val="192B36"/>
                </a:solidFill>
                <a:latin typeface="Arial"/>
                <a:ea typeface="Arial"/>
                <a:cs typeface="Arial"/>
              </a:rPr>
              <a:t>Right a24 (ROI 122)</a:t>
            </a:r>
          </a:p>
        </c:rich>
      </c:tx>
      <c:overlay val="0"/>
      <c:txPr>
        <a:bodyPr xmlns:a="http://schemas.openxmlformats.org/drawingml/2006/main" anchorCtr="1"/>
        <a:lstStyle xmlns:a="http://schemas.openxmlformats.org/drawingml/2006/main"/>
        <a:p xmlns:a="http://schemas.openxmlformats.org/drawingml/2006/main">
          <a:pPr>
            <a:defRPr sz="1950" b="1">
              <a:solidFill>
                <a:srgbClr val="192B36"/>
              </a:solidFill>
              <a:latin typeface="Arial"/>
              <a:ea typeface="Arial"/>
              <a:cs typeface="Arial"/>
            </a:defRPr>
          </a:pPr>
        </a:p>
      </c:txPr>
    </c:title>
    <c:plotArea>
      <c:scatterChart>
        <c:scatterStyle val="line"/>
        <c:ser>
          <c:idx val="0"/>
          <c:order val="0"/>
          <c:tx>
            <c:v>Zero</c:v>
          </c:tx>
          <c:spPr>
            <a:ln xmlns:a="http://schemas.openxmlformats.org/drawingml/2006/main" w="9525">
              <a:solidFill>
                <a:srgbClr val="8B9297"/>
              </a:solidFill>
            </a:ln>
          </c:spPr>
          <c:marker>
            <c:symbol val="none"/>
          </c:marker>
          <c:xVal>
            <c:numLit>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Lit>
          </c:xVal>
          <c:yVal>
            <c:numLit>
              <c:formatCode>0.00</c:formatCode>
              <c:ptCount val="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numLit>
          </c:yVal>
        </c:ser>
        <c:ser>
          <c:idx val="1"/>
          <c:order val="1"/>
          <c:tx>
            <c:v>cHRF</c:v>
          </c:tx>
          <c:spPr>
            <a:ln xmlns:a="http://schemas.openxmlformats.org/drawingml/2006/main" w="23813">
              <a:solidFill>
                <a:srgbClr val="1675A9"/>
              </a:solidFill>
            </a:ln>
          </c:spPr>
          <c:marker>
            <c:symbol val="none"/>
          </c:marker>
          <c:xVal>
            <c:numLit>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Lit>
          </c:xVal>
          <c:yVal>
            <c:numLit>
              <c:formatCode>0.00</c:formatCode>
              <c:ptCount val="41"/>
              <c:pt idx="0">
                <c:v>0.027071056</c:v>
              </c:pt>
              <c:pt idx="1">
                <c:v>0.031256203</c:v>
              </c:pt>
              <c:pt idx="2">
                <c:v>0.024734106</c:v>
              </c:pt>
              <c:pt idx="3">
                <c:v>0.006874874</c:v>
              </c:pt>
              <c:pt idx="4">
                <c:v>-0.017897512</c:v>
              </c:pt>
              <c:pt idx="5">
                <c:v>-0.043220682</c:v>
              </c:pt>
              <c:pt idx="6">
                <c:v>-0.062798888</c:v>
              </c:pt>
              <c:pt idx="7">
                <c:v>-0.071294838</c:v>
              </c:pt>
              <c:pt idx="8">
                <c:v>-0.066469443</c:v>
              </c:pt>
              <c:pt idx="9">
                <c:v>-0.050719068</c:v>
              </c:pt>
              <c:pt idx="10">
                <c:v>-0.029555407</c:v>
              </c:pt>
              <c:pt idx="11">
                <c:v>-0.008389068</c:v>
              </c:pt>
              <c:pt idx="12">
                <c:v>0.010087291</c:v>
              </c:pt>
              <c:pt idx="13">
                <c:v>0.026441481</c:v>
              </c:pt>
              <c:pt idx="14">
                <c:v>0.041828927</c:v>
              </c:pt>
              <c:pt idx="15">
                <c:v>0.054294061</c:v>
              </c:pt>
              <c:pt idx="16">
                <c:v>0.059069806</c:v>
              </c:pt>
              <c:pt idx="17">
                <c:v>0.053090233</c:v>
              </c:pt>
              <c:pt idx="18">
                <c:v>0.038042883</c:v>
              </c:pt>
              <c:pt idx="19">
                <c:v>0.018949101</c:v>
              </c:pt>
              <c:pt idx="20">
                <c:v>0.000969385</c:v>
              </c:pt>
              <c:pt idx="21">
                <c:v>-0.012521325</c:v>
              </c:pt>
              <c:pt idx="22">
                <c:v>-0.019884548</c:v>
              </c:pt>
              <c:pt idx="23">
                <c:v>-0.020162139</c:v>
              </c:pt>
              <c:pt idx="24">
                <c:v>-0.013075284</c:v>
              </c:pt>
              <c:pt idx="25">
                <c:v>-0.000701844</c:v>
              </c:pt>
              <c:pt idx="26">
                <c:v>0.011568003</c:v>
              </c:pt>
              <c:pt idx="27">
                <c:v>0.01737349</c:v>
              </c:pt>
              <c:pt idx="28">
                <c:v>0.013845258</c:v>
              </c:pt>
              <c:pt idx="29">
                <c:v>0.003873632</c:v>
              </c:pt>
              <c:pt idx="30">
                <c:v>-0.006225571</c:v>
              </c:pt>
              <c:pt idx="31">
                <c:v>-0.011537627</c:v>
              </c:pt>
              <c:pt idx="32">
                <c:v>-0.011506804</c:v>
              </c:pt>
              <c:pt idx="33">
                <c:v>-0.008665628</c:v>
              </c:pt>
              <c:pt idx="34">
                <c:v>-0.005160683</c:v>
              </c:pt>
              <c:pt idx="35">
                <c:v>-0.001072714</c:v>
              </c:pt>
              <c:pt idx="36">
                <c:v>0.00393748</c:v>
              </c:pt>
              <c:pt idx="37">
                <c:v>0.008313795</c:v>
              </c:pt>
              <c:pt idx="38">
                <c:v>0.009272083</c:v>
              </c:pt>
              <c:pt idx="39">
                <c:v>0.006048723</c:v>
              </c:pt>
              <c:pt idx="40">
                <c:v>0.001308796</c:v>
              </c:pt>
            </c:numLit>
          </c:yVal>
        </c:ser>
        <c:ser>
          <c:idx val="2"/>
          <c:order val="2"/>
          <c:tx>
            <c:v>cHRFderiv</c:v>
          </c:tx>
          <c:spPr>
            <a:ln xmlns:a="http://schemas.openxmlformats.org/drawingml/2006/main" w="23813">
              <a:solidFill>
                <a:srgbClr val="D47726"/>
              </a:solidFill>
            </a:ln>
          </c:spPr>
          <c:marker>
            <c:symbol val="none"/>
          </c:marker>
          <c:xVal>
            <c:numLit>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Lit>
          </c:xVal>
          <c:yVal>
            <c:numLit>
              <c:formatCode>0.00</c:formatCode>
              <c:ptCount val="41"/>
              <c:pt idx="0">
                <c:v>0.011576123</c:v>
              </c:pt>
              <c:pt idx="1">
                <c:v>0.007669844</c:v>
              </c:pt>
              <c:pt idx="2">
                <c:v>-0.002424793</c:v>
              </c:pt>
              <c:pt idx="3">
                <c:v>-0.013630042</c:v>
              </c:pt>
              <c:pt idx="4">
                <c:v>-0.019820742</c:v>
              </c:pt>
              <c:pt idx="5">
                <c:v>-0.019673512</c:v>
              </c:pt>
              <c:pt idx="6">
                <c:v>-0.016399097</c:v>
              </c:pt>
              <c:pt idx="7">
                <c:v>-0.01304733</c:v>
              </c:pt>
              <c:pt idx="8">
                <c:v>-0.010406782</c:v>
              </c:pt>
              <c:pt idx="9">
                <c:v>-0.00827494</c:v>
              </c:pt>
              <c:pt idx="10">
                <c:v>-0.006503225</c:v>
              </c:pt>
              <c:pt idx="11">
                <c:v>-0.004748204</c:v>
              </c:pt>
              <c:pt idx="12">
                <c:v>-0.001846178</c:v>
              </c:pt>
              <c:pt idx="13">
                <c:v>0.004142753</c:v>
              </c:pt>
              <c:pt idx="14">
                <c:v>0.014000808</c:v>
              </c:pt>
              <c:pt idx="15">
                <c:v>0.024852255</c:v>
              </c:pt>
              <c:pt idx="16">
                <c:v>0.031055566</c:v>
              </c:pt>
              <c:pt idx="17">
                <c:v>0.028650812</c:v>
              </c:pt>
              <c:pt idx="18">
                <c:v>0.018410312</c:v>
              </c:pt>
              <c:pt idx="19">
                <c:v>0.004665336</c:v>
              </c:pt>
              <c:pt idx="20">
                <c:v>-0.007820777</c:v>
              </c:pt>
              <c:pt idx="21">
                <c:v>-0.015949081</c:v>
              </c:pt>
              <c:pt idx="22">
                <c:v>-0.018445464</c:v>
              </c:pt>
              <c:pt idx="23">
                <c:v>-0.015093563</c:v>
              </c:pt>
              <c:pt idx="24">
                <c:v>-0.006777743</c:v>
              </c:pt>
              <c:pt idx="25">
                <c:v>0.003620631</c:v>
              </c:pt>
              <c:pt idx="26">
                <c:v>0.011337858</c:v>
              </c:pt>
              <c:pt idx="27">
                <c:v>0.012100929</c:v>
              </c:pt>
              <c:pt idx="28">
                <c:v>0.00537288</c:v>
              </c:pt>
              <c:pt idx="29">
                <c:v>-0.004690233</c:v>
              </c:pt>
              <c:pt idx="30">
                <c:v>-0.012011773</c:v>
              </c:pt>
              <c:pt idx="31">
                <c:v>-0.012988215</c:v>
              </c:pt>
              <c:pt idx="32">
                <c:v>-0.008629876</c:v>
              </c:pt>
              <c:pt idx="33">
                <c:v>-0.002624409</c:v>
              </c:pt>
              <c:pt idx="34">
                <c:v>0.002298759</c:v>
              </c:pt>
              <c:pt idx="35">
                <c:v>0.005880721</c:v>
              </c:pt>
              <c:pt idx="36">
                <c:v>0.008674399</c:v>
              </c:pt>
              <c:pt idx="37">
                <c:v>0.00989595</c:v>
              </c:pt>
              <c:pt idx="38">
                <c:v>0.007957786</c:v>
              </c:pt>
              <c:pt idx="39">
                <c:v>0.003113333</c:v>
              </c:pt>
              <c:pt idx="40">
                <c:v>-0.001726418</c:v>
              </c:pt>
            </c:numLit>
          </c:yVal>
        </c:ser>
        <c:ser>
          <c:idx val="3"/>
          <c:order val="3"/>
          <c:tx>
            <c:v>sHRF</c:v>
          </c:tx>
          <c:spPr>
            <a:ln xmlns:a="http://schemas.openxmlformats.org/drawingml/2006/main" w="23813">
              <a:solidFill>
                <a:srgbClr val="6A4AA2"/>
              </a:solidFill>
            </a:ln>
          </c:spPr>
          <c:marker>
            <c:symbol val="none"/>
          </c:marker>
          <c:xVal>
            <c:numLit>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Lit>
          </c:xVal>
          <c:yVal>
            <c:numLit>
              <c:formatCode>0.00</c:formatCode>
              <c:ptCount val="41"/>
              <c:pt idx="0">
                <c:v>-0.018138747</c:v>
              </c:pt>
              <c:pt idx="1">
                <c:v>-0.011682679</c:v>
              </c:pt>
              <c:pt idx="2">
                <c:v>-8.2033E-05</c:v>
              </c:pt>
              <c:pt idx="3">
                <c:v>0.009743801</c:v>
              </c:pt>
              <c:pt idx="4">
                <c:v>0.013022727</c:v>
              </c:pt>
              <c:pt idx="5">
                <c:v>0.009682069</c:v>
              </c:pt>
              <c:pt idx="6">
                <c:v>0.003356783</c:v>
              </c:pt>
              <c:pt idx="7">
                <c:v>-0.00105071</c:v>
              </c:pt>
              <c:pt idx="8">
                <c:v>-0.000910336</c:v>
              </c:pt>
              <c:pt idx="9">
                <c:v>0.002114311</c:v>
              </c:pt>
              <c:pt idx="10">
                <c:v>0.003928223</c:v>
              </c:pt>
              <c:pt idx="11">
                <c:v>0.001792937</c:v>
              </c:pt>
              <c:pt idx="12">
                <c:v>-0.003256209</c:v>
              </c:pt>
              <c:pt idx="13">
                <c:v>-0.007006901</c:v>
              </c:pt>
              <c:pt idx="14">
                <c:v>-0.00569605</c:v>
              </c:pt>
              <c:pt idx="15">
                <c:v>0.00024846</c:v>
              </c:pt>
              <c:pt idx="16">
                <c:v>0.006607894</c:v>
              </c:pt>
              <c:pt idx="17">
                <c:v>0.009481426</c:v>
              </c:pt>
              <c:pt idx="18">
                <c:v>0.008108649</c:v>
              </c:pt>
              <c:pt idx="19">
                <c:v>0.00407133</c:v>
              </c:pt>
              <c:pt idx="20">
                <c:v>-0.000754116</c:v>
              </c:pt>
              <c:pt idx="21">
                <c:v>-0.005134778</c:v>
              </c:pt>
              <c:pt idx="22">
                <c:v>-0.00817445</c:v>
              </c:pt>
              <c:pt idx="23">
                <c:v>-0.0087296</c:v>
              </c:pt>
              <c:pt idx="24">
                <c:v>-0.005685976</c:v>
              </c:pt>
              <c:pt idx="25">
                <c:v>0.000723161</c:v>
              </c:pt>
              <c:pt idx="26">
                <c:v>0.007835735</c:v>
              </c:pt>
              <c:pt idx="27">
                <c:v>0.011538345</c:v>
              </c:pt>
              <c:pt idx="28">
                <c:v>0.009330388</c:v>
              </c:pt>
              <c:pt idx="29">
                <c:v>0.002602522</c:v>
              </c:pt>
              <c:pt idx="30">
                <c:v>-0.004437284</c:v>
              </c:pt>
              <c:pt idx="31">
                <c:v>-0.008159685</c:v>
              </c:pt>
              <c:pt idx="32">
                <c:v>-0.007686262</c:v>
              </c:pt>
              <c:pt idx="33">
                <c:v>-0.003972627</c:v>
              </c:pt>
              <c:pt idx="34">
                <c:v>0.002037052</c:v>
              </c:pt>
              <c:pt idx="35">
                <c:v>0.00917079</c:v>
              </c:pt>
              <c:pt idx="36">
                <c:v>0.014218225</c:v>
              </c:pt>
              <c:pt idx="37">
                <c:v>0.012293776</c:v>
              </c:pt>
              <c:pt idx="38">
                <c:v>0.001331527</c:v>
              </c:pt>
              <c:pt idx="39">
                <c:v>-0.013545767</c:v>
              </c:pt>
              <c:pt idx="40">
                <c:v>-0.022829155</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1E6E9"/>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92B36"/>
                </a:solidFill>
                <a:latin typeface="Arial"/>
                <a:ea typeface="Arial"/>
                <a:cs typeface="Arial"/>
              </a:defRPr>
            </a:pPr>
          </a:p>
        </c:txPr>
        <c:crossAx val="48650112"/>
      </c:valAx>
      <c:valAx>
        <c:axId val="48650112"/>
        <c:scaling>
          <c:orientation val="minMax"/>
          <c:max val="28.8"/>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92B36"/>
                </a:solidFill>
                <a:latin typeface="Arial"/>
                <a:ea typeface="Arial"/>
                <a:cs typeface="Arial"/>
              </a:defRPr>
            </a:pPr>
          </a:p>
        </c:txPr>
        <c:crossAx val="48672768"/>
        <c:majorUnit val="7.2"/>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56C6A5-FEF9-406C-B203-9490D559C682}"/>
              </a:ext>
            </a:extLst>
          </p:cNvPr>
          <p:cNvSpPr>
            <a:spLocks xmlns:a="http://schemas.openxmlformats.org/drawingml/2006/main" noGrp="1"/>
          </p:cNvSpPr>
          <p:nvPr/>
        </p:nvSpPr>
        <p:spPr>
          <a:xfrm xmlns:a="http://schemas.openxmlformats.org/drawingml/2006/main">
            <a:off x="476250" y="266700"/>
            <a:ext cx="1123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92B36"/>
                </a:solidFill>
                <a:latin typeface="Arial"/>
                <a:ea typeface="Arial"/>
                <a:cs typeface="Arial"/>
              </a:defRPr>
            </a:pPr>
            <a:r>
              <a:rPr sz="3000" b="1">
                <a:solidFill>
                  <a:srgbClr val="192B36"/>
                </a:solidFill>
                <a:latin typeface="Arial"/>
                <a:ea typeface="Arial"/>
                <a:cs typeface="Arial"/>
              </a:rPr>
              <a:t>Reliable residual contrasts across many ROIs</a:t>
            </a:r>
          </a:p>
        </p:txBody>
      </p:sp>
      <p:sp>
        <p:nvSpPr>
          <p:cNvPr id="2" name="">
            <a:extLst xmlns:a="http://schemas.openxmlformats.org/drawingml/2006/main">
              <a:ext uri="{FF2B5EF4-FFF2-40B4-BE49-F238E27FC236}">
                <a16:creationId xmlns:a16="http://schemas.microsoft.com/office/drawing/2014/main" id="{85A7C017-57F1-4DD1-B5C8-2294D7BBE1C1}"/>
              </a:ext>
            </a:extLst>
          </p:cNvPr>
          <p:cNvSpPr>
            <a:spLocks xmlns:a="http://schemas.openxmlformats.org/drawingml/2006/main" noGrp="1"/>
          </p:cNvSpPr>
          <p:nvPr/>
        </p:nvSpPr>
        <p:spPr>
          <a:xfrm xmlns:a="http://schemas.openxmlformats.org/drawingml/2006/main">
            <a:off x="495300" y="952500"/>
            <a:ext cx="1120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36D"/>
                </a:solidFill>
                <a:latin typeface="Arial"/>
                <a:ea typeface="Arial"/>
                <a:cs typeface="Arial"/>
              </a:defRPr>
            </a:pPr>
            <a:r>
              <a:rPr sz="1800" b="0">
                <a:solidFill>
                  <a:srgbClr val="53636D"/>
                </a:solidFill>
                <a:latin typeface="Arial"/>
                <a:ea typeface="Arial"/>
                <a:cs typeface="Arial"/>
              </a:rPr>
              <a:t>WM interaction: (2-back body − 0-back body) − (2-back faces − 0-back faces)</a:t>
            </a:r>
          </a:p>
        </p:txBody>
      </p:sp>
      <p:graphicFrame>
        <p:nvGraphicFramePr>
          <p:cNvPr id="9" name="Chart"/>
          <p:cNvGraphicFramePr/>
          <p:nvPr/>
        </p:nvGraphicFramePr>
        <p:xfrm>
          <a:off xmlns:a="http://schemas.openxmlformats.org/drawingml/2006/main" x="495300" y="1762125"/>
          <a:ext xmlns:a="http://schemas.openxmlformats.org/drawingml/2006/main" cx="7239000" cy="3857625"/>
        </p:xfrm>
        <a:graphic xmlns:a="http://schemas.openxmlformats.org/drawingml/2006/main">
          <a:graphicData uri="http://schemas.openxmlformats.org/drawingml/2006/chart">
            <c:chart xmlns:r="http://schemas.openxmlformats.org/officeDocument/2006/relationships" xmlns:c="http://schemas.openxmlformats.org/drawingml/2006/chart" r:id="Rc90f65d3eae64c0f"/>
          </a:graphicData>
        </a:graphic>
      </p:graphicFrame>
      <p:sp>
        <p:nvSpPr>
          <p:cNvPr id="4" name="">
            <a:extLst xmlns:a="http://schemas.openxmlformats.org/drawingml/2006/main">
              <a:ext uri="{FF2B5EF4-FFF2-40B4-BE49-F238E27FC236}">
                <a16:creationId xmlns:a16="http://schemas.microsoft.com/office/drawing/2014/main" id="{A5A8CD08-F924-4ADE-B4E3-2F407627D6F5}"/>
              </a:ext>
            </a:extLst>
          </p:cNvPr>
          <p:cNvSpPr>
            <a:spLocks xmlns:a="http://schemas.openxmlformats.org/drawingml/2006/main" noGrp="1"/>
          </p:cNvSpPr>
          <p:nvPr/>
        </p:nvSpPr>
        <p:spPr>
          <a:xfrm xmlns:a="http://schemas.openxmlformats.org/drawingml/2006/main">
            <a:off x="8334375" y="2000250"/>
            <a:ext cx="314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92B36"/>
                </a:solidFill>
                <a:latin typeface="Arial"/>
                <a:ea typeface="Arial"/>
                <a:cs typeface="Arial"/>
              </a:defRPr>
            </a:pPr>
            <a:r>
              <a:rPr sz="2250" b="1">
                <a:solidFill>
                  <a:srgbClr val="192B36"/>
                </a:solidFill>
                <a:latin typeface="Arial"/>
                <a:ea typeface="Arial"/>
                <a:cs typeface="Arial"/>
              </a:rPr>
              <a:t>67.9%   cHRF</a:t>
            </a:r>
          </a:p>
          <a:p xmlns:a="http://schemas.openxmlformats.org/drawingml/2006/main">
            <a:pPr>
              <a:defRPr sz="2250" b="1">
                <a:solidFill>
                  <a:srgbClr val="192B36"/>
                </a:solidFill>
                <a:latin typeface="Arial"/>
                <a:ea typeface="Arial"/>
                <a:cs typeface="Arial"/>
              </a:defRPr>
            </a:pPr>
            <a:r>
              <a:rPr sz="2250" b="1">
                <a:solidFill>
                  <a:srgbClr val="192B36"/>
                </a:solidFill>
                <a:latin typeface="Arial"/>
                <a:ea typeface="Arial"/>
                <a:cs typeface="Arial"/>
              </a:rPr>
              <a:t>62.2%   cHRFderiv</a:t>
            </a:r>
          </a:p>
          <a:p xmlns:a="http://schemas.openxmlformats.org/drawingml/2006/main">
            <a:pPr>
              <a:defRPr sz="2250" b="1">
                <a:solidFill>
                  <a:srgbClr val="192B36"/>
                </a:solidFill>
                <a:latin typeface="Arial"/>
                <a:ea typeface="Arial"/>
                <a:cs typeface="Arial"/>
              </a:defRPr>
            </a:pPr>
            <a:r>
              <a:rPr sz="2250" b="1">
                <a:solidFill>
                  <a:srgbClr val="192B36"/>
                </a:solidFill>
                <a:latin typeface="Arial"/>
                <a:ea typeface="Arial"/>
                <a:cs typeface="Arial"/>
              </a:rPr>
              <a:t>23.3%   sHRF</a:t>
            </a:r>
          </a:p>
        </p:txBody>
      </p:sp>
      <p:sp>
        <p:nvSpPr>
          <p:cNvPr id="5" name="">
            <a:extLst xmlns:a="http://schemas.openxmlformats.org/drawingml/2006/main">
              <a:ext uri="{FF2B5EF4-FFF2-40B4-BE49-F238E27FC236}">
                <a16:creationId xmlns:a16="http://schemas.microsoft.com/office/drawing/2014/main" id="{4CFA3A73-E52B-4A6A-A299-1CCD75CA6896}"/>
              </a:ext>
            </a:extLst>
          </p:cNvPr>
          <p:cNvSpPr>
            <a:spLocks xmlns:a="http://schemas.openxmlformats.org/drawingml/2006/main" noGrp="1"/>
          </p:cNvSpPr>
          <p:nvPr/>
        </p:nvSpPr>
        <p:spPr>
          <a:xfrm xmlns:a="http://schemas.openxmlformats.org/drawingml/2006/main">
            <a:off x="8334375" y="3952875"/>
            <a:ext cx="3000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92B36"/>
                </a:solidFill>
                <a:latin typeface="Arial"/>
                <a:ea typeface="Arial"/>
                <a:cs typeface="Arial"/>
              </a:defRPr>
            </a:pPr>
            <a:r>
              <a:rPr sz="2025" b="0">
                <a:solidFill>
                  <a:srgbClr val="192B36"/>
                </a:solidFill>
                <a:latin typeface="Arial"/>
                <a:ea typeface="Arial"/>
                <a:cs typeface="Arial"/>
              </a:rPr>
              <a:t>The population-average curve departs from zero in these regions.</a:t>
            </a:r>
          </a:p>
        </p:txBody>
      </p:sp>
      <p:sp>
        <p:nvSpPr>
          <p:cNvPr id="6" name="">
            <a:extLst xmlns:a="http://schemas.openxmlformats.org/drawingml/2006/main">
              <a:ext uri="{FF2B5EF4-FFF2-40B4-BE49-F238E27FC236}">
                <a16:creationId xmlns:a16="http://schemas.microsoft.com/office/drawing/2014/main" id="{9AF9630E-F693-44F4-8FF6-128387E2C7BD}"/>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36D"/>
                </a:solidFill>
                <a:latin typeface="Arial"/>
                <a:ea typeface="Arial"/>
                <a:cs typeface="Arial"/>
              </a:defRPr>
            </a:pPr>
            <a:r>
              <a:rPr sz="1425" b="0">
                <a:solidFill>
                  <a:srgbClr val="53636D"/>
                </a:solidFill>
                <a:latin typeface="Arial"/>
                <a:ea typeface="Arial"/>
                <a:cs typeface="Arial"/>
              </a:rPr>
              <a:t>489 ROIs · 402–410 retained subjects per ROI · 41 lags · Holm p ≤ 0.05 within each model</a:t>
            </a:r>
          </a:p>
        </p:txBody>
      </p:sp>
    </p:spTree>
    <p:extLst>
      <p:ext uri="{BB962C8B-B14F-4D97-AF65-F5344CB8AC3E}">
        <p14:creationId xmlns:p14="http://schemas.microsoft.com/office/powerpoint/2010/main" val="11758070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40FCBA2-80EB-417B-9B50-20234F80A486}"/>
              </a:ext>
            </a:extLst>
          </p:cNvPr>
          <p:cNvSpPr>
            <a:spLocks xmlns:a="http://schemas.openxmlformats.org/drawingml/2006/main" noGrp="1"/>
          </p:cNvSpPr>
          <p:nvPr/>
        </p:nvSpPr>
        <p:spPr>
          <a:xfrm xmlns:a="http://schemas.openxmlformats.org/drawingml/2006/main">
            <a:off x="476250" y="266700"/>
            <a:ext cx="1123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92B36"/>
                </a:solidFill>
                <a:latin typeface="Arial"/>
                <a:ea typeface="Arial"/>
                <a:cs typeface="Arial"/>
              </a:defRPr>
            </a:pPr>
            <a:r>
              <a:rPr sz="3000" b="1">
                <a:solidFill>
                  <a:srgbClr val="192B36"/>
                </a:solidFill>
                <a:latin typeface="Arial"/>
                <a:ea typeface="Arial"/>
                <a:cs typeface="Arial"/>
              </a:rPr>
              <a:t>104 ROIs pass in all three HRF models</a:t>
            </a:r>
          </a:p>
        </p:txBody>
      </p:sp>
      <p:sp>
        <p:nvSpPr>
          <p:cNvPr id="2" name="">
            <a:extLst xmlns:a="http://schemas.openxmlformats.org/drawingml/2006/main">
              <a:ext uri="{FF2B5EF4-FFF2-40B4-BE49-F238E27FC236}">
                <a16:creationId xmlns:a16="http://schemas.microsoft.com/office/drawing/2014/main" id="{7B40DA34-305B-4BCE-93E9-50D01069BCBC}"/>
              </a:ext>
            </a:extLst>
          </p:cNvPr>
          <p:cNvSpPr>
            <a:spLocks xmlns:a="http://schemas.openxmlformats.org/drawingml/2006/main" noGrp="1"/>
          </p:cNvSpPr>
          <p:nvPr/>
        </p:nvSpPr>
        <p:spPr>
          <a:xfrm xmlns:a="http://schemas.openxmlformats.org/drawingml/2006/main">
            <a:off x="495300" y="952500"/>
            <a:ext cx="1120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36D"/>
                </a:solidFill>
                <a:latin typeface="Arial"/>
                <a:ea typeface="Arial"/>
                <a:cs typeface="Arial"/>
              </a:defRPr>
            </a:pPr>
            <a:r>
              <a:rPr sz="1800" b="0">
                <a:solidFill>
                  <a:srgbClr val="53636D"/>
                </a:solidFill>
                <a:latin typeface="Arial"/>
                <a:ea typeface="Arial"/>
                <a:cs typeface="Arial"/>
              </a:rPr>
              <a:t>Each bar is a mutually exclusive pattern of significant models</a:t>
            </a:r>
          </a:p>
        </p:txBody>
      </p:sp>
      <p:graphicFrame>
        <p:nvGraphicFramePr>
          <p:cNvPr id="7" name="Chart"/>
          <p:cNvGraphicFramePr/>
          <p:nvPr/>
        </p:nvGraphicFramePr>
        <p:xfrm>
          <a:off xmlns:a="http://schemas.openxmlformats.org/drawingml/2006/main" x="495300" y="1657350"/>
          <a:ext xmlns:a="http://schemas.openxmlformats.org/drawingml/2006/main" cx="11182350" cy="4048125"/>
        </p:xfrm>
        <a:graphic xmlns:a="http://schemas.openxmlformats.org/drawingml/2006/main">
          <a:graphicData uri="http://schemas.openxmlformats.org/drawingml/2006/chart">
            <c:chart xmlns:r="http://schemas.openxmlformats.org/officeDocument/2006/relationships" xmlns:c="http://schemas.openxmlformats.org/drawingml/2006/chart" r:id="Rf5a460f1043345fe"/>
          </a:graphicData>
        </a:graphic>
      </p:graphicFrame>
      <p:sp>
        <p:nvSpPr>
          <p:cNvPr id="4" name="">
            <a:extLst xmlns:a="http://schemas.openxmlformats.org/drawingml/2006/main">
              <a:ext uri="{FF2B5EF4-FFF2-40B4-BE49-F238E27FC236}">
                <a16:creationId xmlns:a16="http://schemas.microsoft.com/office/drawing/2014/main" id="{BA596EFE-B98C-4ABB-8F6F-FBD92127DD7E}"/>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36D"/>
                </a:solidFill>
                <a:latin typeface="Arial"/>
                <a:ea typeface="Arial"/>
                <a:cs typeface="Arial"/>
              </a:defRPr>
            </a:pPr>
            <a:r>
              <a:rPr sz="1425" b="0">
                <a:solidFill>
                  <a:srgbClr val="53636D"/>
                </a:solidFill>
                <a:latin typeface="Arial"/>
                <a:ea typeface="Arial"/>
                <a:cs typeface="Arial"/>
              </a:rPr>
              <a:t>343 ROIs pass in at least one model. 146 pass in none. “deriv” denotes cHRFderiv. Overlap is descriptive.</a:t>
            </a:r>
          </a:p>
        </p:txBody>
      </p:sp>
    </p:spTree>
    <p:extLst>
      <p:ext uri="{BB962C8B-B14F-4D97-AF65-F5344CB8AC3E}">
        <p14:creationId xmlns:p14="http://schemas.microsoft.com/office/powerpoint/2010/main" val="161139464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B94F86C-CC88-4A55-899C-06EA5E44DC32}"/>
              </a:ext>
            </a:extLst>
          </p:cNvPr>
          <p:cNvSpPr>
            <a:spLocks xmlns:a="http://schemas.openxmlformats.org/drawingml/2006/main" noGrp="1"/>
          </p:cNvSpPr>
          <p:nvPr/>
        </p:nvSpPr>
        <p:spPr>
          <a:xfrm xmlns:a="http://schemas.openxmlformats.org/drawingml/2006/main">
            <a:off x="476250" y="266700"/>
            <a:ext cx="1123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92B36"/>
                </a:solidFill>
                <a:latin typeface="Arial"/>
                <a:ea typeface="Arial"/>
                <a:cs typeface="Arial"/>
              </a:defRPr>
            </a:pPr>
            <a:r>
              <a:rPr sz="3000" b="1">
                <a:solidFill>
                  <a:srgbClr val="192B36"/>
                </a:solidFill>
                <a:latin typeface="Arial"/>
                <a:ea typeface="Arial"/>
                <a:cs typeface="Arial"/>
              </a:rPr>
              <a:t>Mean trajectories show the direction and shape</a:t>
            </a:r>
          </a:p>
        </p:txBody>
      </p:sp>
      <p:sp>
        <p:nvSpPr>
          <p:cNvPr id="2" name="">
            <a:extLst xmlns:a="http://schemas.openxmlformats.org/drawingml/2006/main">
              <a:ext uri="{FF2B5EF4-FFF2-40B4-BE49-F238E27FC236}">
                <a16:creationId xmlns:a16="http://schemas.microsoft.com/office/drawing/2014/main" id="{BF295809-291F-42B9-A3B9-4746335D1CF7}"/>
              </a:ext>
            </a:extLst>
          </p:cNvPr>
          <p:cNvSpPr>
            <a:spLocks xmlns:a="http://schemas.openxmlformats.org/drawingml/2006/main" noGrp="1"/>
          </p:cNvSpPr>
          <p:nvPr/>
        </p:nvSpPr>
        <p:spPr>
          <a:xfrm xmlns:a="http://schemas.openxmlformats.org/drawingml/2006/main">
            <a:off x="495300" y="952500"/>
            <a:ext cx="1120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36D"/>
                </a:solidFill>
                <a:latin typeface="Arial"/>
                <a:ea typeface="Arial"/>
                <a:cs typeface="Arial"/>
              </a:defRPr>
            </a:pPr>
            <a:r>
              <a:rPr sz="1800" b="0">
                <a:solidFill>
                  <a:srgbClr val="53636D"/>
                </a:solidFill>
                <a:latin typeface="Arial"/>
                <a:ea typeface="Arial"/>
                <a:cs typeface="Arial"/>
              </a:rPr>
              <a:t>Illustrative ROIs selected after testing. Each curve is a population-average residual contrast.</a:t>
            </a:r>
          </a:p>
        </p:txBody>
      </p:sp>
      <p:graphicFrame>
        <p:nvGraphicFramePr>
          <p:cNvPr id="15" name="Chart"/>
          <p:cNvGraphicFramePr/>
          <p:nvPr/>
        </p:nvGraphicFramePr>
        <p:xfrm>
          <a:off xmlns:a="http://schemas.openxmlformats.org/drawingml/2006/main" x="400050" y="1647825"/>
          <a:ext xmlns:a="http://schemas.openxmlformats.org/drawingml/2006/main" cx="3743325" cy="3619500"/>
        </p:xfrm>
        <a:graphic xmlns:a="http://schemas.openxmlformats.org/drawingml/2006/main">
          <a:graphicData uri="http://schemas.openxmlformats.org/drawingml/2006/chart">
            <c:chart xmlns:r="http://schemas.openxmlformats.org/officeDocument/2006/relationships" xmlns:c="http://schemas.openxmlformats.org/drawingml/2006/chart" r:id="R35f472d5fac9469c"/>
          </a:graphicData>
        </a:graphic>
      </p:graphicFrame>
      <p:sp>
        <p:nvSpPr>
          <p:cNvPr id="4" name="">
            <a:extLst xmlns:a="http://schemas.openxmlformats.org/drawingml/2006/main">
              <a:ext uri="{FF2B5EF4-FFF2-40B4-BE49-F238E27FC236}">
                <a16:creationId xmlns:a16="http://schemas.microsoft.com/office/drawing/2014/main" id="{D53DC658-61D6-4358-9840-ECD249831C59}"/>
              </a:ext>
            </a:extLst>
          </p:cNvPr>
          <p:cNvSpPr>
            <a:spLocks xmlns:a="http://schemas.openxmlformats.org/drawingml/2006/main" noGrp="1"/>
          </p:cNvSpPr>
          <p:nvPr/>
        </p:nvSpPr>
        <p:spPr>
          <a:xfrm xmlns:a="http://schemas.openxmlformats.org/drawingml/2006/main">
            <a:off x="733425" y="5438775"/>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92B36"/>
                </a:solidFill>
                <a:latin typeface="Arial"/>
                <a:ea typeface="Arial"/>
                <a:cs typeface="Arial"/>
              </a:defRPr>
            </a:pPr>
            <a:r>
              <a:rPr sz="1650" b="1">
                <a:solidFill>
                  <a:srgbClr val="192B36"/>
                </a:solidFill>
                <a:latin typeface="Arial"/>
                <a:ea typeface="Arial"/>
                <a:cs typeface="Arial"/>
              </a:rPr>
              <a:t>Passes in all three models</a:t>
            </a:r>
          </a:p>
        </p:txBody>
      </p:sp>
      <p:graphicFrame>
        <p:nvGraphicFramePr>
          <p:cNvPr id="17" name="Chart"/>
          <p:cNvGraphicFramePr/>
          <p:nvPr/>
        </p:nvGraphicFramePr>
        <p:xfrm>
          <a:off xmlns:a="http://schemas.openxmlformats.org/drawingml/2006/main" x="4276725" y="1647825"/>
          <a:ext xmlns:a="http://schemas.openxmlformats.org/drawingml/2006/main" cx="3743325" cy="3619500"/>
        </p:xfrm>
        <a:graphic xmlns:a="http://schemas.openxmlformats.org/drawingml/2006/main">
          <a:graphicData uri="http://schemas.openxmlformats.org/drawingml/2006/chart">
            <c:chart xmlns:r="http://schemas.openxmlformats.org/officeDocument/2006/relationships" xmlns:c="http://schemas.openxmlformats.org/drawingml/2006/chart" r:id="R32bab6d756554af9"/>
          </a:graphicData>
        </a:graphic>
      </p:graphicFrame>
      <p:sp>
        <p:nvSpPr>
          <p:cNvPr id="6" name="">
            <a:extLst xmlns:a="http://schemas.openxmlformats.org/drawingml/2006/main">
              <a:ext uri="{FF2B5EF4-FFF2-40B4-BE49-F238E27FC236}">
                <a16:creationId xmlns:a16="http://schemas.microsoft.com/office/drawing/2014/main" id="{B924200D-3C7A-4689-863F-ABA7A0EBB47A}"/>
              </a:ext>
            </a:extLst>
          </p:cNvPr>
          <p:cNvSpPr>
            <a:spLocks xmlns:a="http://schemas.openxmlformats.org/drawingml/2006/main" noGrp="1"/>
          </p:cNvSpPr>
          <p:nvPr/>
        </p:nvSpPr>
        <p:spPr>
          <a:xfrm xmlns:a="http://schemas.openxmlformats.org/drawingml/2006/main">
            <a:off x="4610100" y="5438775"/>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92B36"/>
                </a:solidFill>
                <a:latin typeface="Arial"/>
                <a:ea typeface="Arial"/>
                <a:cs typeface="Arial"/>
              </a:defRPr>
            </a:pPr>
            <a:r>
              <a:rPr sz="1650" b="1">
                <a:solidFill>
                  <a:srgbClr val="192B36"/>
                </a:solidFill>
                <a:latin typeface="Arial"/>
                <a:ea typeface="Arial"/>
                <a:cs typeface="Arial"/>
              </a:rPr>
              <a:t>Passes in all three models</a:t>
            </a:r>
          </a:p>
        </p:txBody>
      </p:sp>
      <p:graphicFrame>
        <p:nvGraphicFramePr>
          <p:cNvPr id="19" name="Chart"/>
          <p:cNvGraphicFramePr/>
          <p:nvPr/>
        </p:nvGraphicFramePr>
        <p:xfrm>
          <a:off xmlns:a="http://schemas.openxmlformats.org/drawingml/2006/main" x="8153400" y="1647825"/>
          <a:ext xmlns:a="http://schemas.openxmlformats.org/drawingml/2006/main" cx="3743325" cy="3619500"/>
        </p:xfrm>
        <a:graphic xmlns:a="http://schemas.openxmlformats.org/drawingml/2006/main">
          <a:graphicData uri="http://schemas.openxmlformats.org/drawingml/2006/chart">
            <c:chart xmlns:r="http://schemas.openxmlformats.org/officeDocument/2006/relationships" xmlns:c="http://schemas.openxmlformats.org/drawingml/2006/chart" r:id="R2828e32f0d6b44b2"/>
          </a:graphicData>
        </a:graphic>
      </p:graphicFrame>
      <p:sp>
        <p:nvSpPr>
          <p:cNvPr id="8" name="">
            <a:extLst xmlns:a="http://schemas.openxmlformats.org/drawingml/2006/main">
              <a:ext uri="{FF2B5EF4-FFF2-40B4-BE49-F238E27FC236}">
                <a16:creationId xmlns:a16="http://schemas.microsoft.com/office/drawing/2014/main" id="{8987E135-71D1-4A27-ACCD-CD20997C164E}"/>
              </a:ext>
            </a:extLst>
          </p:cNvPr>
          <p:cNvSpPr>
            <a:spLocks xmlns:a="http://schemas.openxmlformats.org/drawingml/2006/main" noGrp="1"/>
          </p:cNvSpPr>
          <p:nvPr/>
        </p:nvSpPr>
        <p:spPr>
          <a:xfrm xmlns:a="http://schemas.openxmlformats.org/drawingml/2006/main">
            <a:off x="8486775" y="5438775"/>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92B36"/>
                </a:solidFill>
                <a:latin typeface="Arial"/>
                <a:ea typeface="Arial"/>
                <a:cs typeface="Arial"/>
              </a:defRPr>
            </a:pPr>
            <a:r>
              <a:rPr sz="1650" b="1">
                <a:solidFill>
                  <a:srgbClr val="192B36"/>
                </a:solidFill>
                <a:latin typeface="Arial"/>
                <a:ea typeface="Arial"/>
                <a:cs typeface="Arial"/>
              </a:rPr>
              <a:t>Passes in cHRF only</a:t>
            </a:r>
          </a:p>
        </p:txBody>
      </p:sp>
      <p:sp>
        <p:nvSpPr>
          <p:cNvPr id="9" name="">
            <a:extLst xmlns:a="http://schemas.openxmlformats.org/drawingml/2006/main">
              <a:ext uri="{FF2B5EF4-FFF2-40B4-BE49-F238E27FC236}">
                <a16:creationId xmlns:a16="http://schemas.microsoft.com/office/drawing/2014/main" id="{E4655041-F6A2-4CFB-A98D-8C0DDBA45410}"/>
              </a:ext>
            </a:extLst>
          </p:cNvPr>
          <p:cNvSpPr>
            <a:spLocks xmlns:a="http://schemas.openxmlformats.org/drawingml/2006/main" noGrp="1"/>
          </p:cNvSpPr>
          <p:nvPr/>
        </p:nvSpPr>
        <p:spPr>
          <a:xfrm xmlns:a="http://schemas.openxmlformats.org/drawingml/2006/main">
            <a:off x="4286250" y="58197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5A9"/>
                </a:solidFill>
                <a:latin typeface="Arial"/>
                <a:ea typeface="Arial"/>
                <a:cs typeface="Arial"/>
              </a:defRPr>
            </a:pPr>
            <a:r>
              <a:rPr sz="1725" b="1">
                <a:solidFill>
                  <a:srgbClr val="1675A9"/>
                </a:solidFill>
                <a:latin typeface="Arial"/>
                <a:ea typeface="Arial"/>
                <a:cs typeface="Arial"/>
              </a:rPr>
              <a:t>cHRF</a:t>
            </a:r>
          </a:p>
        </p:txBody>
      </p:sp>
      <p:sp>
        <p:nvSpPr>
          <p:cNvPr id="10" name="">
            <a:extLst xmlns:a="http://schemas.openxmlformats.org/drawingml/2006/main">
              <a:ext uri="{FF2B5EF4-FFF2-40B4-BE49-F238E27FC236}">
                <a16:creationId xmlns:a16="http://schemas.microsoft.com/office/drawing/2014/main" id="{CEEE9621-3657-4954-A11D-25C75CD07B80}"/>
              </a:ext>
            </a:extLst>
          </p:cNvPr>
          <p:cNvSpPr>
            <a:spLocks xmlns:a="http://schemas.openxmlformats.org/drawingml/2006/main" noGrp="1"/>
          </p:cNvSpPr>
          <p:nvPr/>
        </p:nvSpPr>
        <p:spPr>
          <a:xfrm xmlns:a="http://schemas.openxmlformats.org/drawingml/2006/main">
            <a:off x="5905500" y="58197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47726"/>
                </a:solidFill>
                <a:latin typeface="Arial"/>
                <a:ea typeface="Arial"/>
                <a:cs typeface="Arial"/>
              </a:defRPr>
            </a:pPr>
            <a:r>
              <a:rPr sz="1725" b="1">
                <a:solidFill>
                  <a:srgbClr val="D47726"/>
                </a:solidFill>
                <a:latin typeface="Arial"/>
                <a:ea typeface="Arial"/>
                <a:cs typeface="Arial"/>
              </a:rPr>
              <a:t>cHRFderiv</a:t>
            </a:r>
          </a:p>
        </p:txBody>
      </p:sp>
      <p:sp>
        <p:nvSpPr>
          <p:cNvPr id="11" name="">
            <a:extLst xmlns:a="http://schemas.openxmlformats.org/drawingml/2006/main">
              <a:ext uri="{FF2B5EF4-FFF2-40B4-BE49-F238E27FC236}">
                <a16:creationId xmlns:a16="http://schemas.microsoft.com/office/drawing/2014/main" id="{F89316FB-F01A-4509-B912-EAC4C9FFE52B}"/>
              </a:ext>
            </a:extLst>
          </p:cNvPr>
          <p:cNvSpPr>
            <a:spLocks xmlns:a="http://schemas.openxmlformats.org/drawingml/2006/main" noGrp="1"/>
          </p:cNvSpPr>
          <p:nvPr/>
        </p:nvSpPr>
        <p:spPr>
          <a:xfrm xmlns:a="http://schemas.openxmlformats.org/drawingml/2006/main">
            <a:off x="7524750" y="58197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6A4AA2"/>
                </a:solidFill>
                <a:latin typeface="Arial"/>
                <a:ea typeface="Arial"/>
                <a:cs typeface="Arial"/>
              </a:defRPr>
            </a:pPr>
            <a:r>
              <a:rPr sz="1725" b="1">
                <a:solidFill>
                  <a:srgbClr val="6A4AA2"/>
                </a:solidFill>
                <a:latin typeface="Arial"/>
                <a:ea typeface="Arial"/>
                <a:cs typeface="Arial"/>
              </a:rPr>
              <a:t>sHRF</a:t>
            </a:r>
          </a:p>
        </p:txBody>
      </p:sp>
      <p:sp>
        <p:nvSpPr>
          <p:cNvPr id="12" name="">
            <a:extLst xmlns:a="http://schemas.openxmlformats.org/drawingml/2006/main">
              <a:ext uri="{FF2B5EF4-FFF2-40B4-BE49-F238E27FC236}">
                <a16:creationId xmlns:a16="http://schemas.microsoft.com/office/drawing/2014/main" id="{4A1E8597-96F9-4D4D-8702-D9892A12A398}"/>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36D"/>
                </a:solidFill>
                <a:latin typeface="Arial"/>
                <a:ea typeface="Arial"/>
                <a:cs typeface="Arial"/>
              </a:defRPr>
            </a:pPr>
            <a:r>
              <a:rPr sz="1425" b="0">
                <a:solidFill>
                  <a:srgbClr val="53636D"/>
                </a:solidFill>
                <a:latin typeface="Arial"/>
                <a:ea typeface="Arial"/>
                <a:cs typeface="Arial"/>
              </a:rPr>
              <a:t>Separate y-axis scales. Zero reference shown. Omnibus significance does not identify significant individual lags.</a:t>
            </a:r>
          </a:p>
        </p:txBody>
      </p:sp>
    </p:spTree>
    <p:extLst>
      <p:ext uri="{BB962C8B-B14F-4D97-AF65-F5344CB8AC3E}">
        <p14:creationId xmlns:p14="http://schemas.microsoft.com/office/powerpoint/2010/main" val="7077724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F32A9BE-6EA8-4451-AC15-5C46A5A04A95}"/>
              </a:ext>
            </a:extLst>
          </p:cNvPr>
          <p:cNvSpPr>
            <a:spLocks xmlns:a="http://schemas.openxmlformats.org/drawingml/2006/main" noGrp="1"/>
          </p:cNvSpPr>
          <p:nvPr/>
        </p:nvSpPr>
        <p:spPr>
          <a:xfrm xmlns:a="http://schemas.openxmlformats.org/drawingml/2006/main">
            <a:off x="476250" y="266700"/>
            <a:ext cx="1123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92B36"/>
                </a:solidFill>
                <a:latin typeface="Arial"/>
                <a:ea typeface="Arial"/>
                <a:cs typeface="Arial"/>
              </a:defRPr>
            </a:pPr>
            <a:r>
              <a:rPr sz="3000" b="1">
                <a:solidFill>
                  <a:srgbClr val="192B36"/>
                </a:solidFill>
                <a:latin typeface="Arial"/>
                <a:ea typeface="Arial"/>
                <a:cs typeface="Arial"/>
              </a:rPr>
              <a:t>Bootstrap sensitivity results closely agree</a:t>
            </a:r>
          </a:p>
        </p:txBody>
      </p:sp>
      <p:sp>
        <p:nvSpPr>
          <p:cNvPr id="2" name="">
            <a:extLst xmlns:a="http://schemas.openxmlformats.org/drawingml/2006/main">
              <a:ext uri="{FF2B5EF4-FFF2-40B4-BE49-F238E27FC236}">
                <a16:creationId xmlns:a16="http://schemas.microsoft.com/office/drawing/2014/main" id="{3BA8FE35-D1C1-433E-909A-0F81CD6356AC}"/>
              </a:ext>
            </a:extLst>
          </p:cNvPr>
          <p:cNvSpPr>
            <a:spLocks xmlns:a="http://schemas.openxmlformats.org/drawingml/2006/main" noGrp="1"/>
          </p:cNvSpPr>
          <p:nvPr/>
        </p:nvSpPr>
        <p:spPr>
          <a:xfrm xmlns:a="http://schemas.openxmlformats.org/drawingml/2006/main">
            <a:off x="495300" y="952500"/>
            <a:ext cx="1120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36D"/>
                </a:solidFill>
                <a:latin typeface="Arial"/>
                <a:ea typeface="Arial"/>
                <a:cs typeface="Arial"/>
              </a:defRPr>
            </a:pPr>
            <a:r>
              <a:rPr sz="1800" b="0">
                <a:solidFill>
                  <a:srgbClr val="53636D"/>
                </a:solidFill>
                <a:latin typeface="Arial"/>
                <a:ea typeface="Arial"/>
                <a:cs typeface="Arial"/>
              </a:rPr>
              <a:t>The centered bootstrap allows asymmetric subject curves and provides an approximate comparison.</a:t>
            </a:r>
          </a:p>
        </p:txBody>
      </p:sp>
      <p:graphicFrame>
        <p:nvGraphicFramePr>
          <p:cNvPr id="9" name=""/>
          <p:cNvGraphicFramePr/>
          <p:nvPr/>
        </p:nvGraphicFramePr>
        <p:xfrm>
          <a:off xmlns:a="http://schemas.openxmlformats.org/drawingml/2006/main" x="609600" y="1847850"/>
          <a:ext xmlns:a="http://schemas.openxmlformats.org/drawingml/2006/main" cx="10972800" cy="2514600"/>
        </p:xfrm>
        <a:graphic xmlns:a="http://schemas.openxmlformats.org/drawingml/2006/main">
          <a:graphicData uri="http://schemas.openxmlformats.org/drawingml/2006/table">
            <a:tbl>
              <a:tblPr/>
              <a:tblGrid>
                <a:gridCol w="2381250"/>
                <a:gridCol w="2047875"/>
                <a:gridCol w="2047875"/>
                <a:gridCol w="2238375"/>
                <a:gridCol w="2257425"/>
              </a:tblGrid>
              <a:tr h="628650">
                <a:tc>
                  <a:txBody>
                    <a:bodyPr/>
                    <a:lstStyle/>
                    <a:p>
                      <a:r>
                        <a:rPr sz="1725" b="1">
                          <a:solidFill>
                            <a:srgbClr val="192B36"/>
                          </a:solidFill>
                          <a:latin typeface="Arial"/>
                          <a:ea typeface="Arial"/>
                          <a:cs typeface="Arial"/>
                        </a:rPr>
                        <a:t>HRF model</a:t>
                      </a:r>
                    </a:p>
                  </a:txBody>
                  <a:tcPr marL="114300" marR="114300" marT="95250" marB="95250">
                    <a:solidFill>
                      <a:srgbClr val="EAF1F5"/>
                    </a:solidFill>
                  </a:tcPr>
                </a:tc>
                <a:tc>
                  <a:txBody>
                    <a:bodyPr/>
                    <a:lstStyle/>
                    <a:p>
                      <a:r>
                        <a:rPr sz="1725" b="1">
                          <a:solidFill>
                            <a:srgbClr val="192B36"/>
                          </a:solidFill>
                          <a:latin typeface="Arial"/>
                          <a:ea typeface="Arial"/>
                          <a:cs typeface="Arial"/>
                        </a:rPr>
                        <a:t>Sign flips</a:t>
                      </a:r>
                    </a:p>
                  </a:txBody>
                  <a:tcPr marL="114300" marR="114300" marT="95250" marB="95250">
                    <a:solidFill>
                      <a:srgbClr val="EAF1F5"/>
                    </a:solidFill>
                  </a:tcPr>
                </a:tc>
                <a:tc>
                  <a:txBody>
                    <a:bodyPr/>
                    <a:lstStyle/>
                    <a:p>
                      <a:r>
                        <a:rPr sz="1725" b="1">
                          <a:solidFill>
                            <a:srgbClr val="192B36"/>
                          </a:solidFill>
                          <a:latin typeface="Arial"/>
                          <a:ea typeface="Arial"/>
                          <a:cs typeface="Arial"/>
                        </a:rPr>
                        <a:t>Bootstrap</a:t>
                      </a:r>
                    </a:p>
                  </a:txBody>
                  <a:tcPr marL="114300" marR="114300" marT="95250" marB="95250">
                    <a:solidFill>
                      <a:srgbClr val="EAF1F5"/>
                    </a:solidFill>
                  </a:tcPr>
                </a:tc>
                <a:tc>
                  <a:txBody>
                    <a:bodyPr/>
                    <a:lstStyle/>
                    <a:p>
                      <a:r>
                        <a:rPr sz="1725" b="1">
                          <a:solidFill>
                            <a:srgbClr val="192B36"/>
                          </a:solidFill>
                          <a:latin typeface="Arial"/>
                          <a:ea typeface="Arial"/>
                          <a:cs typeface="Arial"/>
                        </a:rPr>
                        <a:t>Both methods</a:t>
                      </a:r>
                    </a:p>
                  </a:txBody>
                  <a:tcPr marL="114300" marR="114300" marT="95250" marB="95250">
                    <a:solidFill>
                      <a:srgbClr val="EAF1F5"/>
                    </a:solidFill>
                  </a:tcPr>
                </a:tc>
                <a:tc>
                  <a:txBody>
                    <a:bodyPr/>
                    <a:lstStyle/>
                    <a:p>
                      <a:r>
                        <a:rPr sz="1725" b="1">
                          <a:solidFill>
                            <a:srgbClr val="192B36"/>
                          </a:solidFill>
                          <a:latin typeface="Arial"/>
                          <a:ea typeface="Arial"/>
                          <a:cs typeface="Arial"/>
                        </a:rPr>
                        <a:t>Agreement</a:t>
                      </a:r>
                    </a:p>
                  </a:txBody>
                  <a:tcPr marL="114300" marR="114300" marT="95250" marB="95250">
                    <a:solidFill>
                      <a:srgbClr val="EAF1F5"/>
                    </a:solidFill>
                  </a:tcPr>
                </a:tc>
              </a:tr>
              <a:tr h="628650">
                <a:tc>
                  <a:txBody>
                    <a:bodyPr/>
                    <a:lstStyle/>
                    <a:p>
                      <a:r>
                        <a:rPr sz="1800">
                          <a:solidFill>
                            <a:srgbClr val="192B36"/>
                          </a:solidFill>
                          <a:latin typeface="Arial"/>
                          <a:ea typeface="Arial"/>
                          <a:cs typeface="Arial"/>
                        </a:rPr>
                        <a:t>cHRF</a:t>
                      </a:r>
                    </a:p>
                  </a:txBody>
                  <a:tcPr marL="114300" marR="114300" marT="95250" marB="95250">
                    <a:solidFill>
                      <a:srgbClr val="FFFFFF"/>
                    </a:solidFill>
                  </a:tcPr>
                </a:tc>
                <a:tc>
                  <a:txBody>
                    <a:bodyPr/>
                    <a:lstStyle/>
                    <a:p>
                      <a:r>
                        <a:rPr sz="1800">
                          <a:solidFill>
                            <a:srgbClr val="192B36"/>
                          </a:solidFill>
                          <a:latin typeface="Arial"/>
                          <a:ea typeface="Arial"/>
                          <a:cs typeface="Arial"/>
                        </a:rPr>
                        <a:t>332</a:t>
                      </a:r>
                    </a:p>
                  </a:txBody>
                  <a:tcPr marL="114300" marR="114300" marT="95250" marB="95250">
                    <a:solidFill>
                      <a:srgbClr val="FFFFFF"/>
                    </a:solidFill>
                  </a:tcPr>
                </a:tc>
                <a:tc>
                  <a:txBody>
                    <a:bodyPr/>
                    <a:lstStyle/>
                    <a:p>
                      <a:r>
                        <a:rPr sz="1800">
                          <a:solidFill>
                            <a:srgbClr val="192B36"/>
                          </a:solidFill>
                          <a:latin typeface="Arial"/>
                          <a:ea typeface="Arial"/>
                          <a:cs typeface="Arial"/>
                        </a:rPr>
                        <a:t>329</a:t>
                      </a:r>
                    </a:p>
                  </a:txBody>
                  <a:tcPr marL="114300" marR="114300" marT="95250" marB="95250">
                    <a:solidFill>
                      <a:srgbClr val="FFFFFF"/>
                    </a:solidFill>
                  </a:tcPr>
                </a:tc>
                <a:tc>
                  <a:txBody>
                    <a:bodyPr/>
                    <a:lstStyle/>
                    <a:p>
                      <a:r>
                        <a:rPr sz="1800">
                          <a:solidFill>
                            <a:srgbClr val="192B36"/>
                          </a:solidFill>
                          <a:latin typeface="Arial"/>
                          <a:ea typeface="Arial"/>
                          <a:cs typeface="Arial"/>
                        </a:rPr>
                        <a:t>329</a:t>
                      </a:r>
                    </a:p>
                  </a:txBody>
                  <a:tcPr marL="114300" marR="114300" marT="95250" marB="95250">
                    <a:solidFill>
                      <a:srgbClr val="FFFFFF"/>
                    </a:solidFill>
                  </a:tcPr>
                </a:tc>
                <a:tc>
                  <a:txBody>
                    <a:bodyPr/>
                    <a:lstStyle/>
                    <a:p>
                      <a:r>
                        <a:rPr sz="1800">
                          <a:solidFill>
                            <a:srgbClr val="192B36"/>
                          </a:solidFill>
                          <a:latin typeface="Arial"/>
                          <a:ea typeface="Arial"/>
                          <a:cs typeface="Arial"/>
                        </a:rPr>
                        <a:t>99.4%</a:t>
                      </a:r>
                    </a:p>
                  </a:txBody>
                  <a:tcPr marL="114300" marR="114300" marT="95250" marB="95250">
                    <a:solidFill>
                      <a:srgbClr val="FFFFFF"/>
                    </a:solidFill>
                  </a:tcPr>
                </a:tc>
              </a:tr>
              <a:tr h="628650">
                <a:tc>
                  <a:txBody>
                    <a:bodyPr/>
                    <a:lstStyle/>
                    <a:p>
                      <a:r>
                        <a:rPr sz="1800">
                          <a:solidFill>
                            <a:srgbClr val="192B36"/>
                          </a:solidFill>
                          <a:latin typeface="Arial"/>
                          <a:ea typeface="Arial"/>
                          <a:cs typeface="Arial"/>
                        </a:rPr>
                        <a:t>cHRFderiv</a:t>
                      </a:r>
                    </a:p>
                  </a:txBody>
                  <a:tcPr marL="114300" marR="114300" marT="95250" marB="95250">
                    <a:solidFill>
                      <a:srgbClr val="FFFFFF"/>
                    </a:solidFill>
                  </a:tcPr>
                </a:tc>
                <a:tc>
                  <a:txBody>
                    <a:bodyPr/>
                    <a:lstStyle/>
                    <a:p>
                      <a:r>
                        <a:rPr sz="1800">
                          <a:solidFill>
                            <a:srgbClr val="192B36"/>
                          </a:solidFill>
                          <a:latin typeface="Arial"/>
                          <a:ea typeface="Arial"/>
                          <a:cs typeface="Arial"/>
                        </a:rPr>
                        <a:t>304</a:t>
                      </a:r>
                    </a:p>
                  </a:txBody>
                  <a:tcPr marL="114300" marR="114300" marT="95250" marB="95250">
                    <a:solidFill>
                      <a:srgbClr val="FFFFFF"/>
                    </a:solidFill>
                  </a:tcPr>
                </a:tc>
                <a:tc>
                  <a:txBody>
                    <a:bodyPr/>
                    <a:lstStyle/>
                    <a:p>
                      <a:r>
                        <a:rPr sz="1800">
                          <a:solidFill>
                            <a:srgbClr val="192B36"/>
                          </a:solidFill>
                          <a:latin typeface="Arial"/>
                          <a:ea typeface="Arial"/>
                          <a:cs typeface="Arial"/>
                        </a:rPr>
                        <a:t>301</a:t>
                      </a:r>
                    </a:p>
                  </a:txBody>
                  <a:tcPr marL="114300" marR="114300" marT="95250" marB="95250">
                    <a:solidFill>
                      <a:srgbClr val="FFFFFF"/>
                    </a:solidFill>
                  </a:tcPr>
                </a:tc>
                <a:tc>
                  <a:txBody>
                    <a:bodyPr/>
                    <a:lstStyle/>
                    <a:p>
                      <a:r>
                        <a:rPr sz="1800">
                          <a:solidFill>
                            <a:srgbClr val="192B36"/>
                          </a:solidFill>
                          <a:latin typeface="Arial"/>
                          <a:ea typeface="Arial"/>
                          <a:cs typeface="Arial"/>
                        </a:rPr>
                        <a:t>301</a:t>
                      </a:r>
                    </a:p>
                  </a:txBody>
                  <a:tcPr marL="114300" marR="114300" marT="95250" marB="95250">
                    <a:solidFill>
                      <a:srgbClr val="FFFFFF"/>
                    </a:solidFill>
                  </a:tcPr>
                </a:tc>
                <a:tc>
                  <a:txBody>
                    <a:bodyPr/>
                    <a:lstStyle/>
                    <a:p>
                      <a:r>
                        <a:rPr sz="1800">
                          <a:solidFill>
                            <a:srgbClr val="192B36"/>
                          </a:solidFill>
                          <a:latin typeface="Arial"/>
                          <a:ea typeface="Arial"/>
                          <a:cs typeface="Arial"/>
                        </a:rPr>
                        <a:t>99.4%</a:t>
                      </a:r>
                    </a:p>
                  </a:txBody>
                  <a:tcPr marL="114300" marR="114300" marT="95250" marB="95250">
                    <a:solidFill>
                      <a:srgbClr val="FFFFFF"/>
                    </a:solidFill>
                  </a:tcPr>
                </a:tc>
              </a:tr>
              <a:tr h="628650">
                <a:tc>
                  <a:txBody>
                    <a:bodyPr/>
                    <a:lstStyle/>
                    <a:p>
                      <a:r>
                        <a:rPr sz="1800">
                          <a:solidFill>
                            <a:srgbClr val="192B36"/>
                          </a:solidFill>
                          <a:latin typeface="Arial"/>
                          <a:ea typeface="Arial"/>
                          <a:cs typeface="Arial"/>
                        </a:rPr>
                        <a:t>sHRF</a:t>
                      </a:r>
                    </a:p>
                  </a:txBody>
                  <a:tcPr marL="114300" marR="114300" marT="95250" marB="95250">
                    <a:solidFill>
                      <a:srgbClr val="FFFFFF"/>
                    </a:solidFill>
                  </a:tcPr>
                </a:tc>
                <a:tc>
                  <a:txBody>
                    <a:bodyPr/>
                    <a:lstStyle/>
                    <a:p>
                      <a:r>
                        <a:rPr sz="1800">
                          <a:solidFill>
                            <a:srgbClr val="192B36"/>
                          </a:solidFill>
                          <a:latin typeface="Arial"/>
                          <a:ea typeface="Arial"/>
                          <a:cs typeface="Arial"/>
                        </a:rPr>
                        <a:t>114</a:t>
                      </a:r>
                    </a:p>
                  </a:txBody>
                  <a:tcPr marL="114300" marR="114300" marT="95250" marB="95250">
                    <a:solidFill>
                      <a:srgbClr val="FFFFFF"/>
                    </a:solidFill>
                  </a:tcPr>
                </a:tc>
                <a:tc>
                  <a:txBody>
                    <a:bodyPr/>
                    <a:lstStyle/>
                    <a:p>
                      <a:r>
                        <a:rPr sz="1800">
                          <a:solidFill>
                            <a:srgbClr val="192B36"/>
                          </a:solidFill>
                          <a:latin typeface="Arial"/>
                          <a:ea typeface="Arial"/>
                          <a:cs typeface="Arial"/>
                        </a:rPr>
                        <a:t>115</a:t>
                      </a:r>
                    </a:p>
                  </a:txBody>
                  <a:tcPr marL="114300" marR="114300" marT="95250" marB="95250">
                    <a:solidFill>
                      <a:srgbClr val="FFFFFF"/>
                    </a:solidFill>
                  </a:tcPr>
                </a:tc>
                <a:tc>
                  <a:txBody>
                    <a:bodyPr/>
                    <a:lstStyle/>
                    <a:p>
                      <a:r>
                        <a:rPr sz="1800">
                          <a:solidFill>
                            <a:srgbClr val="192B36"/>
                          </a:solidFill>
                          <a:latin typeface="Arial"/>
                          <a:ea typeface="Arial"/>
                          <a:cs typeface="Arial"/>
                        </a:rPr>
                        <a:t>114</a:t>
                      </a:r>
                    </a:p>
                  </a:txBody>
                  <a:tcPr marL="114300" marR="114300" marT="95250" marB="95250">
                    <a:solidFill>
                      <a:srgbClr val="FFFFFF"/>
                    </a:solidFill>
                  </a:tcPr>
                </a:tc>
                <a:tc>
                  <a:txBody>
                    <a:bodyPr/>
                    <a:lstStyle/>
                    <a:p>
                      <a:r>
                        <a:rPr sz="1800">
                          <a:solidFill>
                            <a:srgbClr val="192B36"/>
                          </a:solidFill>
                          <a:latin typeface="Arial"/>
                          <a:ea typeface="Arial"/>
                          <a:cs typeface="Arial"/>
                        </a:rPr>
                        <a:t>99.8%</a:t>
                      </a:r>
                    </a:p>
                  </a:txBody>
                  <a:tcPr marL="114300" marR="11430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1DD59A3-C730-4EF5-85B6-B36B8813BCC7}"/>
              </a:ext>
            </a:extLst>
          </p:cNvPr>
          <p:cNvSpPr>
            <a:spLocks xmlns:a="http://schemas.openxmlformats.org/drawingml/2006/main" noGrp="1"/>
          </p:cNvSpPr>
          <p:nvPr/>
        </p:nvSpPr>
        <p:spPr>
          <a:xfrm xmlns:a="http://schemas.openxmlformats.org/drawingml/2006/main">
            <a:off x="609600" y="4819650"/>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92B36"/>
                </a:solidFill>
                <a:latin typeface="Arial"/>
                <a:ea typeface="Arial"/>
                <a:cs typeface="Arial"/>
              </a:defRPr>
            </a:pPr>
            <a:r>
              <a:rPr sz="2325" b="1">
                <a:solidFill>
                  <a:srgbClr val="192B36"/>
                </a:solidFill>
                <a:latin typeface="Arial"/>
                <a:ea typeface="Arial"/>
                <a:cs typeface="Arial"/>
              </a:rPr>
              <a:t>103 ROIs pass both methods in all three models</a:t>
            </a:r>
          </a:p>
        </p:txBody>
      </p:sp>
      <p:sp>
        <p:nvSpPr>
          <p:cNvPr id="5" name="">
            <a:extLst xmlns:a="http://schemas.openxmlformats.org/drawingml/2006/main">
              <a:ext uri="{FF2B5EF4-FFF2-40B4-BE49-F238E27FC236}">
                <a16:creationId xmlns:a16="http://schemas.microsoft.com/office/drawing/2014/main" id="{241AD991-3B20-4F06-99AC-89CD7603F211}"/>
              </a:ext>
            </a:extLst>
          </p:cNvPr>
          <p:cNvSpPr>
            <a:spLocks xmlns:a="http://schemas.openxmlformats.org/drawingml/2006/main" noGrp="1"/>
          </p:cNvSpPr>
          <p:nvPr/>
        </p:nvSpPr>
        <p:spPr>
          <a:xfrm xmlns:a="http://schemas.openxmlformats.org/drawingml/2006/main">
            <a:off x="609600" y="54768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92B36"/>
                </a:solidFill>
                <a:latin typeface="Arial"/>
                <a:ea typeface="Arial"/>
                <a:cs typeface="Arial"/>
              </a:defRPr>
            </a:pPr>
            <a:r>
              <a:rPr sz="1950" b="0">
                <a:solidFill>
                  <a:srgbClr val="192B36"/>
                </a:solidFill>
                <a:latin typeface="Arial"/>
                <a:ea typeface="Arial"/>
                <a:cs typeface="Arial"/>
              </a:rPr>
              <a:t>Close agreement supports stability to the calibration method.</a:t>
            </a:r>
          </a:p>
        </p:txBody>
      </p:sp>
      <p:sp>
        <p:nvSpPr>
          <p:cNvPr id="6" name="">
            <a:extLst xmlns:a="http://schemas.openxmlformats.org/drawingml/2006/main">
              <a:ext uri="{FF2B5EF4-FFF2-40B4-BE49-F238E27FC236}">
                <a16:creationId xmlns:a16="http://schemas.microsoft.com/office/drawing/2014/main" id="{2EDE69D9-AAA2-4A94-A7FC-9A7E03CE2A88}"/>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36D"/>
                </a:solidFill>
                <a:latin typeface="Arial"/>
                <a:ea typeface="Arial"/>
                <a:cs typeface="Arial"/>
              </a:defRPr>
            </a:pPr>
            <a:r>
              <a:rPr sz="1425" b="0">
                <a:solidFill>
                  <a:srgbClr val="53636D"/>
                </a:solidFill>
                <a:latin typeface="Arial"/>
                <a:ea typeface="Arial"/>
                <a:cs typeface="Arial"/>
              </a:rPr>
              <a:t>Counts refer to Holm p ≤ 0.05. Independence is owner-confirmed. Null symmetry remains an assumption.</a:t>
            </a:r>
          </a:p>
        </p:txBody>
      </p:sp>
    </p:spTree>
    <p:extLst>
      <p:ext uri="{BB962C8B-B14F-4D97-AF65-F5344CB8AC3E}">
        <p14:creationId xmlns:p14="http://schemas.microsoft.com/office/powerpoint/2010/main" val="71066976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C2D892C-70F5-469C-8937-E96CEB0812E5}"/>
              </a:ext>
            </a:extLst>
          </p:cNvPr>
          <p:cNvSpPr>
            <a:spLocks xmlns:a="http://schemas.openxmlformats.org/drawingml/2006/main" noGrp="1"/>
          </p:cNvSpPr>
          <p:nvPr/>
        </p:nvSpPr>
        <p:spPr>
          <a:xfrm xmlns:a="http://schemas.openxmlformats.org/drawingml/2006/main">
            <a:off x="476250" y="266700"/>
            <a:ext cx="1123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92B36"/>
                </a:solidFill>
                <a:latin typeface="Arial"/>
                <a:ea typeface="Arial"/>
                <a:cs typeface="Arial"/>
              </a:defRPr>
            </a:pPr>
            <a:r>
              <a:rPr sz="3000" b="1">
                <a:solidFill>
                  <a:srgbClr val="192B36"/>
                </a:solidFill>
                <a:latin typeface="Arial"/>
                <a:ea typeface="Arial"/>
                <a:cs typeface="Arial"/>
              </a:rPr>
              <a:t>ROI evidence and interpretation</a:t>
            </a:r>
          </a:p>
        </p:txBody>
      </p:sp>
      <p:sp>
        <p:nvSpPr>
          <p:cNvPr id="2" name="">
            <a:extLst xmlns:a="http://schemas.openxmlformats.org/drawingml/2006/main">
              <a:ext uri="{FF2B5EF4-FFF2-40B4-BE49-F238E27FC236}">
                <a16:creationId xmlns:a16="http://schemas.microsoft.com/office/drawing/2014/main" id="{9AB5CB9F-2987-474C-91F4-0A8AE296A0FB}"/>
              </a:ext>
            </a:extLst>
          </p:cNvPr>
          <p:cNvSpPr>
            <a:spLocks xmlns:a="http://schemas.openxmlformats.org/drawingml/2006/main" noGrp="1"/>
          </p:cNvSpPr>
          <p:nvPr/>
        </p:nvSpPr>
        <p:spPr>
          <a:xfrm xmlns:a="http://schemas.openxmlformats.org/drawingml/2006/main">
            <a:off x="495300" y="952500"/>
            <a:ext cx="1120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36D"/>
                </a:solidFill>
                <a:latin typeface="Arial"/>
                <a:ea typeface="Arial"/>
                <a:cs typeface="Arial"/>
              </a:defRPr>
            </a:pPr>
            <a:r>
              <a:rPr sz="1800" b="0">
                <a:solidFill>
                  <a:srgbClr val="53636D"/>
                </a:solidFill>
                <a:latin typeface="Arial"/>
                <a:ea typeface="Arial"/>
                <a:cs typeface="Arial"/>
              </a:rPr>
              <a:t>Examples connect the statistical evidence to the trajectories shown above.</a:t>
            </a:r>
          </a:p>
        </p:txBody>
      </p:sp>
      <p:graphicFrame>
        <p:nvGraphicFramePr>
          <p:cNvPr id="11" name=""/>
          <p:cNvGraphicFramePr/>
          <p:nvPr/>
        </p:nvGraphicFramePr>
        <p:xfrm>
          <a:off xmlns:a="http://schemas.openxmlformats.org/drawingml/2006/main" x="609600" y="1790700"/>
          <a:ext xmlns:a="http://schemas.openxmlformats.org/drawingml/2006/main" cx="10972800" cy="2381250"/>
        </p:xfrm>
        <a:graphic xmlns:a="http://schemas.openxmlformats.org/drawingml/2006/main">
          <a:graphicData uri="http://schemas.openxmlformats.org/drawingml/2006/table">
            <a:tbl>
              <a:tblPr/>
              <a:tblGrid>
                <a:gridCol w="3257550"/>
                <a:gridCol w="2381250"/>
                <a:gridCol w="2952750"/>
                <a:gridCol w="2381250"/>
              </a:tblGrid>
              <a:tr h="595313">
                <a:tc>
                  <a:txBody>
                    <a:bodyPr/>
                    <a:lstStyle/>
                    <a:p>
                      <a:r>
                        <a:rPr sz="1725" b="1">
                          <a:solidFill>
                            <a:srgbClr val="192B36"/>
                          </a:solidFill>
                          <a:latin typeface="Arial"/>
                          <a:ea typeface="Arial"/>
                          <a:cs typeface="Arial"/>
                        </a:rPr>
                        <a:t>ROI</a:t>
                      </a:r>
                    </a:p>
                  </a:txBody>
                  <a:tcPr marL="114300" marR="114300" marT="95250" marB="95250">
                    <a:solidFill>
                      <a:srgbClr val="EAF1F5"/>
                    </a:solidFill>
                  </a:tcPr>
                </a:tc>
                <a:tc>
                  <a:txBody>
                    <a:bodyPr/>
                    <a:lstStyle/>
                    <a:p>
                      <a:r>
                        <a:rPr sz="1725" b="1">
                          <a:solidFill>
                            <a:srgbClr val="192B36"/>
                          </a:solidFill>
                          <a:latin typeface="Arial"/>
                          <a:ea typeface="Arial"/>
                          <a:cs typeface="Arial"/>
                        </a:rPr>
                        <a:t>cHRF p_Holm</a:t>
                      </a:r>
                    </a:p>
                  </a:txBody>
                  <a:tcPr marL="114300" marR="114300" marT="95250" marB="95250">
                    <a:solidFill>
                      <a:srgbClr val="EAF1F5"/>
                    </a:solidFill>
                  </a:tcPr>
                </a:tc>
                <a:tc>
                  <a:txBody>
                    <a:bodyPr/>
                    <a:lstStyle/>
                    <a:p>
                      <a:r>
                        <a:rPr sz="1725" b="1">
                          <a:solidFill>
                            <a:srgbClr val="192B36"/>
                          </a:solidFill>
                          <a:latin typeface="Arial"/>
                          <a:ea typeface="Arial"/>
                          <a:cs typeface="Arial"/>
                        </a:rPr>
                        <a:t>cHRFderiv p_Holm</a:t>
                      </a:r>
                    </a:p>
                  </a:txBody>
                  <a:tcPr marL="114300" marR="114300" marT="95250" marB="95250">
                    <a:solidFill>
                      <a:srgbClr val="EAF1F5"/>
                    </a:solidFill>
                  </a:tcPr>
                </a:tc>
                <a:tc>
                  <a:txBody>
                    <a:bodyPr/>
                    <a:lstStyle/>
                    <a:p>
                      <a:r>
                        <a:rPr sz="1725" b="1">
                          <a:solidFill>
                            <a:srgbClr val="192B36"/>
                          </a:solidFill>
                          <a:latin typeface="Arial"/>
                          <a:ea typeface="Arial"/>
                          <a:cs typeface="Arial"/>
                        </a:rPr>
                        <a:t>sHRF p_Holm</a:t>
                      </a:r>
                    </a:p>
                  </a:txBody>
                  <a:tcPr marL="114300" marR="114300" marT="95250" marB="95250">
                    <a:solidFill>
                      <a:srgbClr val="EAF1F5"/>
                    </a:solidFill>
                  </a:tcPr>
                </a:tc>
              </a:tr>
              <a:tr h="595313">
                <a:tc>
                  <a:txBody>
                    <a:bodyPr/>
                    <a:lstStyle/>
                    <a:p>
                      <a:r>
                        <a:rPr sz="1800">
                          <a:solidFill>
                            <a:srgbClr val="192B36"/>
                          </a:solidFill>
                          <a:latin typeface="Arial"/>
                          <a:ea typeface="Arial"/>
                          <a:cs typeface="Arial"/>
                        </a:rPr>
                        <a:t>Ctx_V1_L (1)</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r>
              <a:tr h="595313">
                <a:tc>
                  <a:txBody>
                    <a:bodyPr/>
                    <a:lstStyle/>
                    <a:p>
                      <a:r>
                        <a:rPr sz="1800">
                          <a:solidFill>
                            <a:srgbClr val="192B36"/>
                          </a:solidFill>
                          <a:latin typeface="Arial"/>
                          <a:ea typeface="Arial"/>
                          <a:cs typeface="Arial"/>
                        </a:rPr>
                        <a:t>Ctx_V1_R (2)</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r>
              <a:tr h="595313">
                <a:tc>
                  <a:txBody>
                    <a:bodyPr/>
                    <a:lstStyle/>
                    <a:p>
                      <a:r>
                        <a:rPr sz="1800">
                          <a:solidFill>
                            <a:srgbClr val="192B36"/>
                          </a:solidFill>
                          <a:latin typeface="Arial"/>
                          <a:ea typeface="Arial"/>
                          <a:cs typeface="Arial"/>
                        </a:rPr>
                        <a:t>Ctx_a24_R (122)</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c>
                  <a:txBody>
                    <a:bodyPr/>
                    <a:lstStyle/>
                    <a:p>
                      <a:r>
                        <a:rPr sz="1800">
                          <a:solidFill>
                            <a:srgbClr val="192B36"/>
                          </a:solidFill>
                          <a:latin typeface="Arial"/>
                          <a:ea typeface="Arial"/>
                          <a:cs typeface="Arial"/>
                        </a:rPr>
                        <a:t>0.11072</a:t>
                      </a:r>
                    </a:p>
                  </a:txBody>
                  <a:tcPr marL="114300" marR="114300" marT="95250" marB="95250">
                    <a:solidFill>
                      <a:srgbClr val="FFFFFF"/>
                    </a:solidFill>
                  </a:tcPr>
                </a:tc>
                <a:tc>
                  <a:txBody>
                    <a:bodyPr/>
                    <a:lstStyle/>
                    <a:p>
                      <a:r>
                        <a:rPr sz="1800">
                          <a:solidFill>
                            <a:srgbClr val="192B36"/>
                          </a:solidFill>
                          <a:latin typeface="Arial"/>
                          <a:ea typeface="Arial"/>
                          <a:cs typeface="Arial"/>
                        </a:rPr>
                        <a:t>0.15345</a:t>
                      </a:r>
                    </a:p>
                  </a:txBody>
                  <a:tcPr marL="114300" marR="11430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6685275-88F8-4ED2-AAD9-27EF435ED11A}"/>
              </a:ext>
            </a:extLst>
          </p:cNvPr>
          <p:cNvSpPr>
            <a:spLocks xmlns:a="http://schemas.openxmlformats.org/drawingml/2006/main" noGrp="1"/>
          </p:cNvSpPr>
          <p:nvPr/>
        </p:nvSpPr>
        <p:spPr>
          <a:xfrm xmlns:a="http://schemas.openxmlformats.org/drawingml/2006/main">
            <a:off x="609600" y="45434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92B36"/>
                </a:solidFill>
                <a:latin typeface="Arial"/>
                <a:ea typeface="Arial"/>
                <a:cs typeface="Arial"/>
              </a:defRPr>
            </a:pPr>
            <a:r>
              <a:rPr sz="2100" b="1">
                <a:solidFill>
                  <a:srgbClr val="192B36"/>
                </a:solidFill>
                <a:latin typeface="Arial"/>
                <a:ea typeface="Arial"/>
                <a:cs typeface="Arial"/>
              </a:rPr>
              <a:t>Supported conclusion</a:t>
            </a:r>
          </a:p>
        </p:txBody>
      </p:sp>
      <p:sp>
        <p:nvSpPr>
          <p:cNvPr id="5" name="">
            <a:extLst xmlns:a="http://schemas.openxmlformats.org/drawingml/2006/main">
              <a:ext uri="{FF2B5EF4-FFF2-40B4-BE49-F238E27FC236}">
                <a16:creationId xmlns:a16="http://schemas.microsoft.com/office/drawing/2014/main" id="{B825AB54-C5CF-4AB1-875E-CB9772C207C6}"/>
              </a:ext>
            </a:extLst>
          </p:cNvPr>
          <p:cNvSpPr>
            <a:spLocks xmlns:a="http://schemas.openxmlformats.org/drawingml/2006/main" noGrp="1"/>
          </p:cNvSpPr>
          <p:nvPr/>
        </p:nvSpPr>
        <p:spPr>
          <a:xfrm xmlns:a="http://schemas.openxmlformats.org/drawingml/2006/main">
            <a:off x="609600" y="5038725"/>
            <a:ext cx="5191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92B36"/>
                </a:solidFill>
                <a:latin typeface="Arial"/>
                <a:ea typeface="Arial"/>
                <a:cs typeface="Arial"/>
              </a:defRPr>
            </a:pPr>
            <a:r>
              <a:rPr sz="1950" b="0">
                <a:solidFill>
                  <a:srgbClr val="192B36"/>
                </a:solidFill>
                <a:latin typeface="Arial"/>
                <a:ea typeface="Arial"/>
                <a:cs typeface="Arial"/>
              </a:rPr>
              <a:t>Systematic population-average residual contrasts persist across many ROIs.</a:t>
            </a:r>
          </a:p>
        </p:txBody>
      </p:sp>
      <p:sp>
        <p:nvSpPr>
          <p:cNvPr id="6" name="">
            <a:extLst xmlns:a="http://schemas.openxmlformats.org/drawingml/2006/main">
              <a:ext uri="{FF2B5EF4-FFF2-40B4-BE49-F238E27FC236}">
                <a16:creationId xmlns:a16="http://schemas.microsoft.com/office/drawing/2014/main" id="{F8C23EE3-9A87-4793-9826-3A4E2B11DE25}"/>
              </a:ext>
            </a:extLst>
          </p:cNvPr>
          <p:cNvSpPr>
            <a:spLocks xmlns:a="http://schemas.openxmlformats.org/drawingml/2006/main" noGrp="1"/>
          </p:cNvSpPr>
          <p:nvPr/>
        </p:nvSpPr>
        <p:spPr>
          <a:xfrm xmlns:a="http://schemas.openxmlformats.org/drawingml/2006/main">
            <a:off x="6477000" y="45434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92B36"/>
                </a:solidFill>
                <a:latin typeface="Arial"/>
                <a:ea typeface="Arial"/>
                <a:cs typeface="Arial"/>
              </a:defRPr>
            </a:pPr>
            <a:r>
              <a:rPr sz="2100" b="1">
                <a:solidFill>
                  <a:srgbClr val="192B36"/>
                </a:solidFill>
                <a:latin typeface="Arial"/>
                <a:ea typeface="Arial"/>
                <a:cs typeface="Arial"/>
              </a:rPr>
              <a:t>Interpretation boundary</a:t>
            </a:r>
          </a:p>
        </p:txBody>
      </p:sp>
      <p:sp>
        <p:nvSpPr>
          <p:cNvPr id="7" name="">
            <a:extLst xmlns:a="http://schemas.openxmlformats.org/drawingml/2006/main">
              <a:ext uri="{FF2B5EF4-FFF2-40B4-BE49-F238E27FC236}">
                <a16:creationId xmlns:a16="http://schemas.microsoft.com/office/drawing/2014/main" id="{6A142E05-B56F-483C-BB7E-CDC058DEF4C4}"/>
              </a:ext>
            </a:extLst>
          </p:cNvPr>
          <p:cNvSpPr>
            <a:spLocks xmlns:a="http://schemas.openxmlformats.org/drawingml/2006/main" noGrp="1"/>
          </p:cNvSpPr>
          <p:nvPr/>
        </p:nvSpPr>
        <p:spPr>
          <a:xfrm xmlns:a="http://schemas.openxmlformats.org/drawingml/2006/main">
            <a:off x="6477000" y="503872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92B36"/>
                </a:solidFill>
                <a:latin typeface="Arial"/>
                <a:ea typeface="Arial"/>
                <a:cs typeface="Arial"/>
              </a:defRPr>
            </a:pPr>
            <a:r>
              <a:rPr sz="1950" b="0">
                <a:solidFill>
                  <a:srgbClr val="192B36"/>
                </a:solidFill>
                <a:latin typeface="Arial"/>
                <a:ea typeface="Arial"/>
                <a:cs typeface="Arial"/>
              </a:rPr>
              <a:t>Timing, classifier importance and causal influence require separate analyses.</a:t>
            </a:r>
          </a:p>
        </p:txBody>
      </p:sp>
      <p:sp>
        <p:nvSpPr>
          <p:cNvPr id="8" name="">
            <a:extLst xmlns:a="http://schemas.openxmlformats.org/drawingml/2006/main">
              <a:ext uri="{FF2B5EF4-FFF2-40B4-BE49-F238E27FC236}">
                <a16:creationId xmlns:a16="http://schemas.microsoft.com/office/drawing/2014/main" id="{2D526B07-A309-42A5-9305-82FEE8DD3A87}"/>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36D"/>
                </a:solidFill>
                <a:latin typeface="Arial"/>
                <a:ea typeface="Arial"/>
                <a:cs typeface="Arial"/>
              </a:defRPr>
            </a:pPr>
            <a:r>
              <a:rPr sz="1425" b="0">
                <a:solidFill>
                  <a:srgbClr val="53636D"/>
                </a:solidFill>
                <a:latin typeface="Arial"/>
                <a:ea typeface="Arial"/>
                <a:cs typeface="Arial"/>
              </a:rPr>
              <a:t>Smallest raw p = 0.00001. Tied adjusted p-values limit fine ranking. Model differences require a direct test.</a:t>
            </a:r>
          </a:p>
        </p:txBody>
      </p:sp>
    </p:spTree>
    <p:extLst>
      <p:ext uri="{BB962C8B-B14F-4D97-AF65-F5344CB8AC3E}">
        <p14:creationId xmlns:p14="http://schemas.microsoft.com/office/powerpoint/2010/main" val="18872132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2026-09-22T00:11:35.8190000Z</dcterms:created>
  <dcterms:modified xsi:type="dcterms:W3CDTF">2026-09-22T00:11:35.8190000Z</dcterms:modified>
</coreProperties>
</file>